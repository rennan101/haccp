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297" r:id="rId3"/>
    <p:sldId id="341" r:id="rId4"/>
    <p:sldId id="343" r:id="rId5"/>
    <p:sldId id="346" r:id="rId6"/>
    <p:sldId id="344" r:id="rId7"/>
    <p:sldId id="342" r:id="rId8"/>
    <p:sldId id="319" r:id="rId9"/>
    <p:sldId id="325" r:id="rId10"/>
    <p:sldId id="345" r:id="rId11"/>
    <p:sldId id="306" r:id="rId12"/>
    <p:sldId id="320" r:id="rId13"/>
    <p:sldId id="303" r:id="rId14"/>
    <p:sldId id="353" r:id="rId15"/>
    <p:sldId id="350" r:id="rId16"/>
    <p:sldId id="352" r:id="rId17"/>
    <p:sldId id="299" r:id="rId18"/>
    <p:sldId id="354" r:id="rId19"/>
    <p:sldId id="276" r:id="rId20"/>
    <p:sldId id="301" r:id="rId21"/>
    <p:sldId id="310" r:id="rId22"/>
    <p:sldId id="355" r:id="rId23"/>
    <p:sldId id="356" r:id="rId24"/>
    <p:sldId id="358" r:id="rId25"/>
    <p:sldId id="357" r:id="rId26"/>
    <p:sldId id="351" r:id="rId27"/>
    <p:sldId id="326" r:id="rId28"/>
    <p:sldId id="315" r:id="rId29"/>
    <p:sldId id="321" r:id="rId30"/>
  </p:sldIdLst>
  <p:sldSz cx="9144000" cy="6858000" type="screen4x3"/>
  <p:notesSz cx="6794500" cy="99314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C82D2B"/>
    <a:srgbClr val="FE0000"/>
    <a:srgbClr val="72CAEE"/>
    <a:srgbClr val="53B259"/>
    <a:srgbClr val="E0F3FB"/>
    <a:srgbClr val="FFFFFF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FF3AFC-A9E4-4E8E-BDE4-14A5FFF2114D}" v="2" dt="2026-06-23T07:49:00.41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39" autoAdjust="0"/>
    <p:restoredTop sz="94719"/>
  </p:normalViewPr>
  <p:slideViewPr>
    <p:cSldViewPr snapToGrid="0">
      <p:cViewPr varScale="1">
        <p:scale>
          <a:sx n="152" d="100"/>
          <a:sy n="152" d="100"/>
        </p:scale>
        <p:origin x="688" y="1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94C2E7-5A37-4E6A-A513-840871A73A3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0B4D81E-3E70-498B-9169-115AA8EC23C4}">
      <dgm:prSet/>
      <dgm:spPr/>
      <dgm:t>
        <a:bodyPr/>
        <a:lstStyle/>
        <a:p>
          <a:r>
            <a:rPr lang="en-GB" b="0" i="0"/>
            <a:t>A </a:t>
          </a:r>
          <a:r>
            <a:rPr lang="en-GB" b="1" i="0"/>
            <a:t>food hazard </a:t>
          </a:r>
          <a:r>
            <a:rPr lang="en-GB" b="0" i="0"/>
            <a:t>is something dangerous that could make food unsafe or unfit to eat. </a:t>
          </a:r>
          <a:endParaRPr lang="en-US"/>
        </a:p>
      </dgm:t>
    </dgm:pt>
    <dgm:pt modelId="{BEC8DC11-FA6F-467B-9AAB-CC37389B11E0}" type="parTrans" cxnId="{485FC7D9-8AE5-4E07-B849-223C968D99DE}">
      <dgm:prSet/>
      <dgm:spPr/>
      <dgm:t>
        <a:bodyPr/>
        <a:lstStyle/>
        <a:p>
          <a:endParaRPr lang="en-US"/>
        </a:p>
      </dgm:t>
    </dgm:pt>
    <dgm:pt modelId="{58C5C7C7-3D38-4285-A325-E4787A42AFF5}" type="sibTrans" cxnId="{485FC7D9-8AE5-4E07-B849-223C968D99DE}">
      <dgm:prSet/>
      <dgm:spPr/>
      <dgm:t>
        <a:bodyPr/>
        <a:lstStyle/>
        <a:p>
          <a:endParaRPr lang="en-US"/>
        </a:p>
      </dgm:t>
    </dgm:pt>
    <dgm:pt modelId="{049A53FA-D8AE-4498-9D56-E8C940D3E73E}">
      <dgm:prSet/>
      <dgm:spPr/>
      <dgm:t>
        <a:bodyPr/>
        <a:lstStyle/>
        <a:p>
          <a:r>
            <a:rPr lang="en-GB" b="0" i="0"/>
            <a:t>The food business MUST identify hazards at each stage of the processing flow so they can be removed or reduced to safe levels.</a:t>
          </a:r>
          <a:endParaRPr lang="en-US"/>
        </a:p>
      </dgm:t>
    </dgm:pt>
    <dgm:pt modelId="{45CB65F7-26C9-4C07-B1E1-608B6655AF51}" type="parTrans" cxnId="{17D9C04B-8C37-46D9-AACC-A9E457460A31}">
      <dgm:prSet/>
      <dgm:spPr/>
      <dgm:t>
        <a:bodyPr/>
        <a:lstStyle/>
        <a:p>
          <a:endParaRPr lang="en-US"/>
        </a:p>
      </dgm:t>
    </dgm:pt>
    <dgm:pt modelId="{D17035ED-C77D-45A0-B721-B3F40762BCEF}" type="sibTrans" cxnId="{17D9C04B-8C37-46D9-AACC-A9E457460A31}">
      <dgm:prSet/>
      <dgm:spPr/>
      <dgm:t>
        <a:bodyPr/>
        <a:lstStyle/>
        <a:p>
          <a:endParaRPr lang="en-US"/>
        </a:p>
      </dgm:t>
    </dgm:pt>
    <dgm:pt modelId="{D36A43C0-475E-4831-9FBC-CCA5B27EB6DD}">
      <dgm:prSet/>
      <dgm:spPr/>
      <dgm:t>
        <a:bodyPr/>
        <a:lstStyle/>
        <a:p>
          <a:r>
            <a:rPr lang="en-GB" b="0" i="0"/>
            <a:t>There are three main types of food safety hazards:</a:t>
          </a:r>
          <a:endParaRPr lang="en-US"/>
        </a:p>
      </dgm:t>
    </dgm:pt>
    <dgm:pt modelId="{D149AB96-0C80-4CE0-A02C-52C33929360F}" type="parTrans" cxnId="{386C79D7-3D83-4EBC-A4A3-F75C3D4ADDC2}">
      <dgm:prSet/>
      <dgm:spPr/>
      <dgm:t>
        <a:bodyPr/>
        <a:lstStyle/>
        <a:p>
          <a:endParaRPr lang="en-US"/>
        </a:p>
      </dgm:t>
    </dgm:pt>
    <dgm:pt modelId="{741CF153-9756-41E1-B116-28DB6F981566}" type="sibTrans" cxnId="{386C79D7-3D83-4EBC-A4A3-F75C3D4ADDC2}">
      <dgm:prSet/>
      <dgm:spPr/>
      <dgm:t>
        <a:bodyPr/>
        <a:lstStyle/>
        <a:p>
          <a:endParaRPr lang="en-US"/>
        </a:p>
      </dgm:t>
    </dgm:pt>
    <dgm:pt modelId="{834FD39E-8A2C-47BF-B5C9-9C51B2C6607C}">
      <dgm:prSet/>
      <dgm:spPr/>
      <dgm:t>
        <a:bodyPr/>
        <a:lstStyle/>
        <a:p>
          <a:r>
            <a:rPr lang="en-GB"/>
            <a:t>physical - involving objects getting into food</a:t>
          </a:r>
          <a:endParaRPr lang="en-US"/>
        </a:p>
      </dgm:t>
    </dgm:pt>
    <dgm:pt modelId="{FFEC5A3C-BC9E-4E60-B17B-1593C10FCE4A}" type="parTrans" cxnId="{8937F372-EF6B-44B4-80C6-49A6F1001F11}">
      <dgm:prSet/>
      <dgm:spPr/>
      <dgm:t>
        <a:bodyPr/>
        <a:lstStyle/>
        <a:p>
          <a:endParaRPr lang="en-US"/>
        </a:p>
      </dgm:t>
    </dgm:pt>
    <dgm:pt modelId="{0D1AB240-3C2E-42B1-A70C-0F70F24E070A}" type="sibTrans" cxnId="{8937F372-EF6B-44B4-80C6-49A6F1001F11}">
      <dgm:prSet/>
      <dgm:spPr/>
      <dgm:t>
        <a:bodyPr/>
        <a:lstStyle/>
        <a:p>
          <a:endParaRPr lang="en-US"/>
        </a:p>
      </dgm:t>
    </dgm:pt>
    <dgm:pt modelId="{96933703-A074-4B30-9E36-1977A5273D5A}">
      <dgm:prSet/>
      <dgm:spPr/>
      <dgm:t>
        <a:bodyPr/>
        <a:lstStyle/>
        <a:p>
          <a:r>
            <a:rPr lang="en-GB"/>
            <a:t>chemical - involving chemical contamination</a:t>
          </a:r>
          <a:endParaRPr lang="en-US"/>
        </a:p>
      </dgm:t>
    </dgm:pt>
    <dgm:pt modelId="{1DD2B9C2-B8F6-4565-A481-CC4BB266F4A6}" type="parTrans" cxnId="{E0C46C3D-829C-439B-9504-7553B8F1D455}">
      <dgm:prSet/>
      <dgm:spPr/>
      <dgm:t>
        <a:bodyPr/>
        <a:lstStyle/>
        <a:p>
          <a:endParaRPr lang="en-US"/>
        </a:p>
      </dgm:t>
    </dgm:pt>
    <dgm:pt modelId="{B0FB4876-3874-4F51-8A72-A4B3F4223780}" type="sibTrans" cxnId="{E0C46C3D-829C-439B-9504-7553B8F1D455}">
      <dgm:prSet/>
      <dgm:spPr/>
      <dgm:t>
        <a:bodyPr/>
        <a:lstStyle/>
        <a:p>
          <a:endParaRPr lang="en-US"/>
        </a:p>
      </dgm:t>
    </dgm:pt>
    <dgm:pt modelId="{8D9DCB0F-2619-4C59-B317-8D7407E4DC63}">
      <dgm:prSet/>
      <dgm:spPr/>
      <dgm:t>
        <a:bodyPr/>
        <a:lstStyle/>
        <a:p>
          <a:r>
            <a:rPr lang="en-GB" b="0" i="0"/>
            <a:t>microbiological - involving harmful bacteria</a:t>
          </a:r>
          <a:endParaRPr lang="en-US"/>
        </a:p>
      </dgm:t>
    </dgm:pt>
    <dgm:pt modelId="{48C8CCE5-3250-4FAE-868D-F9B2B8DD94CB}" type="parTrans" cxnId="{573698EA-1F2E-40AE-BCEA-DEACB8B1485D}">
      <dgm:prSet/>
      <dgm:spPr/>
      <dgm:t>
        <a:bodyPr/>
        <a:lstStyle/>
        <a:p>
          <a:endParaRPr lang="en-US"/>
        </a:p>
      </dgm:t>
    </dgm:pt>
    <dgm:pt modelId="{69BA4017-2DF8-42B1-B8F2-EA37BECFCF32}" type="sibTrans" cxnId="{573698EA-1F2E-40AE-BCEA-DEACB8B1485D}">
      <dgm:prSet/>
      <dgm:spPr/>
      <dgm:t>
        <a:bodyPr/>
        <a:lstStyle/>
        <a:p>
          <a:endParaRPr lang="en-US"/>
        </a:p>
      </dgm:t>
    </dgm:pt>
    <dgm:pt modelId="{1BE70208-A835-407E-B641-B5D798ED2A90}">
      <dgm:prSet/>
      <dgm:spPr/>
      <dgm:t>
        <a:bodyPr/>
        <a:lstStyle/>
        <a:p>
          <a:r>
            <a:rPr lang="en-GB"/>
            <a:t>Allergen – evolving the 12 allergens listed by the EU/UK government</a:t>
          </a:r>
          <a:endParaRPr lang="en-US"/>
        </a:p>
      </dgm:t>
    </dgm:pt>
    <dgm:pt modelId="{F7A481A6-16AA-4008-8A82-0866D002F527}" type="parTrans" cxnId="{30EA5B4D-A241-4031-BFFD-5E6BCB8890E5}">
      <dgm:prSet/>
      <dgm:spPr/>
      <dgm:t>
        <a:bodyPr/>
        <a:lstStyle/>
        <a:p>
          <a:endParaRPr lang="en-US"/>
        </a:p>
      </dgm:t>
    </dgm:pt>
    <dgm:pt modelId="{E8B66174-A93B-42C9-B22B-A363DA6D66CB}" type="sibTrans" cxnId="{30EA5B4D-A241-4031-BFFD-5E6BCB8890E5}">
      <dgm:prSet/>
      <dgm:spPr/>
      <dgm:t>
        <a:bodyPr/>
        <a:lstStyle/>
        <a:p>
          <a:endParaRPr lang="en-US"/>
        </a:p>
      </dgm:t>
    </dgm:pt>
    <dgm:pt modelId="{39C239C9-2071-4FEA-B57A-223907BB32FA}" type="pres">
      <dgm:prSet presAssocID="{AE94C2E7-5A37-4E6A-A513-840871A73A3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85A9336-6391-4A92-A99D-BCE785656B6F}" type="pres">
      <dgm:prSet presAssocID="{A0B4D81E-3E70-498B-9169-115AA8EC23C4}" presName="hierRoot1" presStyleCnt="0"/>
      <dgm:spPr/>
    </dgm:pt>
    <dgm:pt modelId="{DC048718-2B1B-4E8F-9273-A7E669A2A305}" type="pres">
      <dgm:prSet presAssocID="{A0B4D81E-3E70-498B-9169-115AA8EC23C4}" presName="composite" presStyleCnt="0"/>
      <dgm:spPr/>
    </dgm:pt>
    <dgm:pt modelId="{F6280566-9183-4833-9E06-D33CC5CDAA86}" type="pres">
      <dgm:prSet presAssocID="{A0B4D81E-3E70-498B-9169-115AA8EC23C4}" presName="background" presStyleLbl="node0" presStyleIdx="0" presStyleCnt="3"/>
      <dgm:spPr/>
    </dgm:pt>
    <dgm:pt modelId="{61DEAF3D-540E-43D4-A309-8FF95886BE62}" type="pres">
      <dgm:prSet presAssocID="{A0B4D81E-3E70-498B-9169-115AA8EC23C4}" presName="text" presStyleLbl="fgAcc0" presStyleIdx="0" presStyleCnt="3">
        <dgm:presLayoutVars>
          <dgm:chPref val="3"/>
        </dgm:presLayoutVars>
      </dgm:prSet>
      <dgm:spPr/>
    </dgm:pt>
    <dgm:pt modelId="{EE1EFFA4-D3A5-4B53-9D2C-CD7B63517E71}" type="pres">
      <dgm:prSet presAssocID="{A0B4D81E-3E70-498B-9169-115AA8EC23C4}" presName="hierChild2" presStyleCnt="0"/>
      <dgm:spPr/>
    </dgm:pt>
    <dgm:pt modelId="{B41270B2-6A7B-40DB-8F56-8CB669937B47}" type="pres">
      <dgm:prSet presAssocID="{049A53FA-D8AE-4498-9D56-E8C940D3E73E}" presName="hierRoot1" presStyleCnt="0"/>
      <dgm:spPr/>
    </dgm:pt>
    <dgm:pt modelId="{F57EBD94-2787-4D52-8321-2C45C96D5022}" type="pres">
      <dgm:prSet presAssocID="{049A53FA-D8AE-4498-9D56-E8C940D3E73E}" presName="composite" presStyleCnt="0"/>
      <dgm:spPr/>
    </dgm:pt>
    <dgm:pt modelId="{01413625-CF47-4FA5-8566-C05926C80B62}" type="pres">
      <dgm:prSet presAssocID="{049A53FA-D8AE-4498-9D56-E8C940D3E73E}" presName="background" presStyleLbl="node0" presStyleIdx="1" presStyleCnt="3"/>
      <dgm:spPr/>
    </dgm:pt>
    <dgm:pt modelId="{D422F7D0-D967-447F-8B8D-A5CA7FAE54D4}" type="pres">
      <dgm:prSet presAssocID="{049A53FA-D8AE-4498-9D56-E8C940D3E73E}" presName="text" presStyleLbl="fgAcc0" presStyleIdx="1" presStyleCnt="3">
        <dgm:presLayoutVars>
          <dgm:chPref val="3"/>
        </dgm:presLayoutVars>
      </dgm:prSet>
      <dgm:spPr/>
    </dgm:pt>
    <dgm:pt modelId="{BCDEEF18-51C5-41B7-9712-3533F8318645}" type="pres">
      <dgm:prSet presAssocID="{049A53FA-D8AE-4498-9D56-E8C940D3E73E}" presName="hierChild2" presStyleCnt="0"/>
      <dgm:spPr/>
    </dgm:pt>
    <dgm:pt modelId="{EAB4724F-B275-4F88-8219-96DDADB53966}" type="pres">
      <dgm:prSet presAssocID="{D36A43C0-475E-4831-9FBC-CCA5B27EB6DD}" presName="hierRoot1" presStyleCnt="0"/>
      <dgm:spPr/>
    </dgm:pt>
    <dgm:pt modelId="{C7DD12C0-0F53-42FD-9C2D-627B662EE889}" type="pres">
      <dgm:prSet presAssocID="{D36A43C0-475E-4831-9FBC-CCA5B27EB6DD}" presName="composite" presStyleCnt="0"/>
      <dgm:spPr/>
    </dgm:pt>
    <dgm:pt modelId="{E80D7C70-AF6D-4BB5-9464-EAE18557C1A9}" type="pres">
      <dgm:prSet presAssocID="{D36A43C0-475E-4831-9FBC-CCA5B27EB6DD}" presName="background" presStyleLbl="node0" presStyleIdx="2" presStyleCnt="3"/>
      <dgm:spPr/>
    </dgm:pt>
    <dgm:pt modelId="{713CD606-7A80-47D4-8D9F-D64A9D01D14D}" type="pres">
      <dgm:prSet presAssocID="{D36A43C0-475E-4831-9FBC-CCA5B27EB6DD}" presName="text" presStyleLbl="fgAcc0" presStyleIdx="2" presStyleCnt="3">
        <dgm:presLayoutVars>
          <dgm:chPref val="3"/>
        </dgm:presLayoutVars>
      </dgm:prSet>
      <dgm:spPr/>
    </dgm:pt>
    <dgm:pt modelId="{9797FAAC-BC66-4782-B7AD-4B83DC131159}" type="pres">
      <dgm:prSet presAssocID="{D36A43C0-475E-4831-9FBC-CCA5B27EB6DD}" presName="hierChild2" presStyleCnt="0"/>
      <dgm:spPr/>
    </dgm:pt>
    <dgm:pt modelId="{ACD96A3C-BCA4-4E15-BC42-6A9A7903E330}" type="pres">
      <dgm:prSet presAssocID="{FFEC5A3C-BC9E-4E60-B17B-1593C10FCE4A}" presName="Name10" presStyleLbl="parChTrans1D2" presStyleIdx="0" presStyleCnt="4"/>
      <dgm:spPr/>
    </dgm:pt>
    <dgm:pt modelId="{3E0410DC-03BF-4550-95F3-BF2F94C288EC}" type="pres">
      <dgm:prSet presAssocID="{834FD39E-8A2C-47BF-B5C9-9C51B2C6607C}" presName="hierRoot2" presStyleCnt="0"/>
      <dgm:spPr/>
    </dgm:pt>
    <dgm:pt modelId="{1B82FCDD-5C14-4D6A-9D19-CE614DF79C94}" type="pres">
      <dgm:prSet presAssocID="{834FD39E-8A2C-47BF-B5C9-9C51B2C6607C}" presName="composite2" presStyleCnt="0"/>
      <dgm:spPr/>
    </dgm:pt>
    <dgm:pt modelId="{67F866BD-F3FA-4379-BC9C-8A173AD82DCD}" type="pres">
      <dgm:prSet presAssocID="{834FD39E-8A2C-47BF-B5C9-9C51B2C6607C}" presName="background2" presStyleLbl="node2" presStyleIdx="0" presStyleCnt="4"/>
      <dgm:spPr/>
    </dgm:pt>
    <dgm:pt modelId="{153C8FAF-6A55-4A2C-A92A-7F95F806BB22}" type="pres">
      <dgm:prSet presAssocID="{834FD39E-8A2C-47BF-B5C9-9C51B2C6607C}" presName="text2" presStyleLbl="fgAcc2" presStyleIdx="0" presStyleCnt="4">
        <dgm:presLayoutVars>
          <dgm:chPref val="3"/>
        </dgm:presLayoutVars>
      </dgm:prSet>
      <dgm:spPr/>
    </dgm:pt>
    <dgm:pt modelId="{676CB252-326E-4096-B6D5-5612FD9F944E}" type="pres">
      <dgm:prSet presAssocID="{834FD39E-8A2C-47BF-B5C9-9C51B2C6607C}" presName="hierChild3" presStyleCnt="0"/>
      <dgm:spPr/>
    </dgm:pt>
    <dgm:pt modelId="{27207E54-DA36-4E11-A0FD-E9AF9A1E2595}" type="pres">
      <dgm:prSet presAssocID="{1DD2B9C2-B8F6-4565-A481-CC4BB266F4A6}" presName="Name10" presStyleLbl="parChTrans1D2" presStyleIdx="1" presStyleCnt="4"/>
      <dgm:spPr/>
    </dgm:pt>
    <dgm:pt modelId="{AFD78852-B4B5-48EE-AA66-36E19B5E20A3}" type="pres">
      <dgm:prSet presAssocID="{96933703-A074-4B30-9E36-1977A5273D5A}" presName="hierRoot2" presStyleCnt="0"/>
      <dgm:spPr/>
    </dgm:pt>
    <dgm:pt modelId="{CC504DFC-00F3-4628-BE0E-526F674FBC0B}" type="pres">
      <dgm:prSet presAssocID="{96933703-A074-4B30-9E36-1977A5273D5A}" presName="composite2" presStyleCnt="0"/>
      <dgm:spPr/>
    </dgm:pt>
    <dgm:pt modelId="{48EA79C2-BBF5-44F9-BCFD-5D01FC2EF4AA}" type="pres">
      <dgm:prSet presAssocID="{96933703-A074-4B30-9E36-1977A5273D5A}" presName="background2" presStyleLbl="node2" presStyleIdx="1" presStyleCnt="4"/>
      <dgm:spPr/>
    </dgm:pt>
    <dgm:pt modelId="{3AAA9EAA-C4D5-4100-8483-BA888957F366}" type="pres">
      <dgm:prSet presAssocID="{96933703-A074-4B30-9E36-1977A5273D5A}" presName="text2" presStyleLbl="fgAcc2" presStyleIdx="1" presStyleCnt="4">
        <dgm:presLayoutVars>
          <dgm:chPref val="3"/>
        </dgm:presLayoutVars>
      </dgm:prSet>
      <dgm:spPr/>
    </dgm:pt>
    <dgm:pt modelId="{0264E053-4F96-4470-9DAA-E2CBDE8CA086}" type="pres">
      <dgm:prSet presAssocID="{96933703-A074-4B30-9E36-1977A5273D5A}" presName="hierChild3" presStyleCnt="0"/>
      <dgm:spPr/>
    </dgm:pt>
    <dgm:pt modelId="{AB08487B-F45B-49C9-A725-03FD8B82AC5B}" type="pres">
      <dgm:prSet presAssocID="{48C8CCE5-3250-4FAE-868D-F9B2B8DD94CB}" presName="Name10" presStyleLbl="parChTrans1D2" presStyleIdx="2" presStyleCnt="4"/>
      <dgm:spPr/>
    </dgm:pt>
    <dgm:pt modelId="{C35D9501-A289-48EE-8FB1-2E7920A8B5E9}" type="pres">
      <dgm:prSet presAssocID="{8D9DCB0F-2619-4C59-B317-8D7407E4DC63}" presName="hierRoot2" presStyleCnt="0"/>
      <dgm:spPr/>
    </dgm:pt>
    <dgm:pt modelId="{9D03FC86-6F7E-4A16-913D-7BE8A9B69220}" type="pres">
      <dgm:prSet presAssocID="{8D9DCB0F-2619-4C59-B317-8D7407E4DC63}" presName="composite2" presStyleCnt="0"/>
      <dgm:spPr/>
    </dgm:pt>
    <dgm:pt modelId="{3DA1387A-F651-433C-859C-167A8FD59407}" type="pres">
      <dgm:prSet presAssocID="{8D9DCB0F-2619-4C59-B317-8D7407E4DC63}" presName="background2" presStyleLbl="node2" presStyleIdx="2" presStyleCnt="4"/>
      <dgm:spPr/>
    </dgm:pt>
    <dgm:pt modelId="{45C175D6-4033-45DE-B18B-EC7ABD88E5A4}" type="pres">
      <dgm:prSet presAssocID="{8D9DCB0F-2619-4C59-B317-8D7407E4DC63}" presName="text2" presStyleLbl="fgAcc2" presStyleIdx="2" presStyleCnt="4">
        <dgm:presLayoutVars>
          <dgm:chPref val="3"/>
        </dgm:presLayoutVars>
      </dgm:prSet>
      <dgm:spPr/>
    </dgm:pt>
    <dgm:pt modelId="{07ED7E0D-0163-4F87-B534-C1CBFE49F9F5}" type="pres">
      <dgm:prSet presAssocID="{8D9DCB0F-2619-4C59-B317-8D7407E4DC63}" presName="hierChild3" presStyleCnt="0"/>
      <dgm:spPr/>
    </dgm:pt>
    <dgm:pt modelId="{DF01D293-C4DB-4CFD-9463-BA63223AFD93}" type="pres">
      <dgm:prSet presAssocID="{F7A481A6-16AA-4008-8A82-0866D002F527}" presName="Name10" presStyleLbl="parChTrans1D2" presStyleIdx="3" presStyleCnt="4"/>
      <dgm:spPr/>
    </dgm:pt>
    <dgm:pt modelId="{66C8EFF2-C651-4FB4-92E3-DA102CA4AC6A}" type="pres">
      <dgm:prSet presAssocID="{1BE70208-A835-407E-B641-B5D798ED2A90}" presName="hierRoot2" presStyleCnt="0"/>
      <dgm:spPr/>
    </dgm:pt>
    <dgm:pt modelId="{3A5B89E7-FE75-4607-923A-4EDD9AB9385B}" type="pres">
      <dgm:prSet presAssocID="{1BE70208-A835-407E-B641-B5D798ED2A90}" presName="composite2" presStyleCnt="0"/>
      <dgm:spPr/>
    </dgm:pt>
    <dgm:pt modelId="{2701838E-B21C-4BE6-A907-0B4EC933EB33}" type="pres">
      <dgm:prSet presAssocID="{1BE70208-A835-407E-B641-B5D798ED2A90}" presName="background2" presStyleLbl="node2" presStyleIdx="3" presStyleCnt="4"/>
      <dgm:spPr/>
    </dgm:pt>
    <dgm:pt modelId="{E3DA5168-3A35-4B27-A5EF-DFC770AD1626}" type="pres">
      <dgm:prSet presAssocID="{1BE70208-A835-407E-B641-B5D798ED2A90}" presName="text2" presStyleLbl="fgAcc2" presStyleIdx="3" presStyleCnt="4">
        <dgm:presLayoutVars>
          <dgm:chPref val="3"/>
        </dgm:presLayoutVars>
      </dgm:prSet>
      <dgm:spPr/>
    </dgm:pt>
    <dgm:pt modelId="{CA431862-1388-4136-A4CF-6039DE96DC86}" type="pres">
      <dgm:prSet presAssocID="{1BE70208-A835-407E-B641-B5D798ED2A90}" presName="hierChild3" presStyleCnt="0"/>
      <dgm:spPr/>
    </dgm:pt>
  </dgm:ptLst>
  <dgm:cxnLst>
    <dgm:cxn modelId="{7E027711-7965-4EF3-88F6-2B4955861062}" type="presOf" srcId="{AE94C2E7-5A37-4E6A-A513-840871A73A3C}" destId="{39C239C9-2071-4FEA-B57A-223907BB32FA}" srcOrd="0" destOrd="0" presId="urn:microsoft.com/office/officeart/2005/8/layout/hierarchy1"/>
    <dgm:cxn modelId="{57A0E232-ED35-43DE-8753-8F915DF0C073}" type="presOf" srcId="{FFEC5A3C-BC9E-4E60-B17B-1593C10FCE4A}" destId="{ACD96A3C-BCA4-4E15-BC42-6A9A7903E330}" srcOrd="0" destOrd="0" presId="urn:microsoft.com/office/officeart/2005/8/layout/hierarchy1"/>
    <dgm:cxn modelId="{0586C839-F239-494A-82B6-33C0B3B6E495}" type="presOf" srcId="{1DD2B9C2-B8F6-4565-A481-CC4BB266F4A6}" destId="{27207E54-DA36-4E11-A0FD-E9AF9A1E2595}" srcOrd="0" destOrd="0" presId="urn:microsoft.com/office/officeart/2005/8/layout/hierarchy1"/>
    <dgm:cxn modelId="{E164CE39-4645-4633-BD5C-1451D307E3E0}" type="presOf" srcId="{A0B4D81E-3E70-498B-9169-115AA8EC23C4}" destId="{61DEAF3D-540E-43D4-A309-8FF95886BE62}" srcOrd="0" destOrd="0" presId="urn:microsoft.com/office/officeart/2005/8/layout/hierarchy1"/>
    <dgm:cxn modelId="{E0C46C3D-829C-439B-9504-7553B8F1D455}" srcId="{D36A43C0-475E-4831-9FBC-CCA5B27EB6DD}" destId="{96933703-A074-4B30-9E36-1977A5273D5A}" srcOrd="1" destOrd="0" parTransId="{1DD2B9C2-B8F6-4565-A481-CC4BB266F4A6}" sibTransId="{B0FB4876-3874-4F51-8A72-A4B3F4223780}"/>
    <dgm:cxn modelId="{17D9C04B-8C37-46D9-AACC-A9E457460A31}" srcId="{AE94C2E7-5A37-4E6A-A513-840871A73A3C}" destId="{049A53FA-D8AE-4498-9D56-E8C940D3E73E}" srcOrd="1" destOrd="0" parTransId="{45CB65F7-26C9-4C07-B1E1-608B6655AF51}" sibTransId="{D17035ED-C77D-45A0-B721-B3F40762BCEF}"/>
    <dgm:cxn modelId="{30EA5B4D-A241-4031-BFFD-5E6BCB8890E5}" srcId="{D36A43C0-475E-4831-9FBC-CCA5B27EB6DD}" destId="{1BE70208-A835-407E-B641-B5D798ED2A90}" srcOrd="3" destOrd="0" parTransId="{F7A481A6-16AA-4008-8A82-0866D002F527}" sibTransId="{E8B66174-A93B-42C9-B22B-A363DA6D66CB}"/>
    <dgm:cxn modelId="{DC6AA371-7597-4F70-B124-133F5094C0DB}" type="presOf" srcId="{96933703-A074-4B30-9E36-1977A5273D5A}" destId="{3AAA9EAA-C4D5-4100-8483-BA888957F366}" srcOrd="0" destOrd="0" presId="urn:microsoft.com/office/officeart/2005/8/layout/hierarchy1"/>
    <dgm:cxn modelId="{8937F372-EF6B-44B4-80C6-49A6F1001F11}" srcId="{D36A43C0-475E-4831-9FBC-CCA5B27EB6DD}" destId="{834FD39E-8A2C-47BF-B5C9-9C51B2C6607C}" srcOrd="0" destOrd="0" parTransId="{FFEC5A3C-BC9E-4E60-B17B-1593C10FCE4A}" sibTransId="{0D1AB240-3C2E-42B1-A70C-0F70F24E070A}"/>
    <dgm:cxn modelId="{E191C481-B784-4C4B-9D17-939832D2B77D}" type="presOf" srcId="{834FD39E-8A2C-47BF-B5C9-9C51B2C6607C}" destId="{153C8FAF-6A55-4A2C-A92A-7F95F806BB22}" srcOrd="0" destOrd="0" presId="urn:microsoft.com/office/officeart/2005/8/layout/hierarchy1"/>
    <dgm:cxn modelId="{8D095A84-A6A9-422C-A6CA-D1DAB9C7744D}" type="presOf" srcId="{F7A481A6-16AA-4008-8A82-0866D002F527}" destId="{DF01D293-C4DB-4CFD-9463-BA63223AFD93}" srcOrd="0" destOrd="0" presId="urn:microsoft.com/office/officeart/2005/8/layout/hierarchy1"/>
    <dgm:cxn modelId="{32627D9E-16CE-442C-B427-983213D8C92E}" type="presOf" srcId="{48C8CCE5-3250-4FAE-868D-F9B2B8DD94CB}" destId="{AB08487B-F45B-49C9-A725-03FD8B82AC5B}" srcOrd="0" destOrd="0" presId="urn:microsoft.com/office/officeart/2005/8/layout/hierarchy1"/>
    <dgm:cxn modelId="{EDA832AF-6FE4-413B-ADD0-9CDAB3CD27B0}" type="presOf" srcId="{049A53FA-D8AE-4498-9D56-E8C940D3E73E}" destId="{D422F7D0-D967-447F-8B8D-A5CA7FAE54D4}" srcOrd="0" destOrd="0" presId="urn:microsoft.com/office/officeart/2005/8/layout/hierarchy1"/>
    <dgm:cxn modelId="{339081B8-7C90-454D-9F08-93759CADFA20}" type="presOf" srcId="{1BE70208-A835-407E-B641-B5D798ED2A90}" destId="{E3DA5168-3A35-4B27-A5EF-DFC770AD1626}" srcOrd="0" destOrd="0" presId="urn:microsoft.com/office/officeart/2005/8/layout/hierarchy1"/>
    <dgm:cxn modelId="{CF6621D2-21BB-41D6-9CE1-3B80C64E6E2A}" type="presOf" srcId="{8D9DCB0F-2619-4C59-B317-8D7407E4DC63}" destId="{45C175D6-4033-45DE-B18B-EC7ABD88E5A4}" srcOrd="0" destOrd="0" presId="urn:microsoft.com/office/officeart/2005/8/layout/hierarchy1"/>
    <dgm:cxn modelId="{FEA9A2D6-938E-451D-8079-7F845CFAF826}" type="presOf" srcId="{D36A43C0-475E-4831-9FBC-CCA5B27EB6DD}" destId="{713CD606-7A80-47D4-8D9F-D64A9D01D14D}" srcOrd="0" destOrd="0" presId="urn:microsoft.com/office/officeart/2005/8/layout/hierarchy1"/>
    <dgm:cxn modelId="{386C79D7-3D83-4EBC-A4A3-F75C3D4ADDC2}" srcId="{AE94C2E7-5A37-4E6A-A513-840871A73A3C}" destId="{D36A43C0-475E-4831-9FBC-CCA5B27EB6DD}" srcOrd="2" destOrd="0" parTransId="{D149AB96-0C80-4CE0-A02C-52C33929360F}" sibTransId="{741CF153-9756-41E1-B116-28DB6F981566}"/>
    <dgm:cxn modelId="{485FC7D9-8AE5-4E07-B849-223C968D99DE}" srcId="{AE94C2E7-5A37-4E6A-A513-840871A73A3C}" destId="{A0B4D81E-3E70-498B-9169-115AA8EC23C4}" srcOrd="0" destOrd="0" parTransId="{BEC8DC11-FA6F-467B-9AAB-CC37389B11E0}" sibTransId="{58C5C7C7-3D38-4285-A325-E4787A42AFF5}"/>
    <dgm:cxn modelId="{573698EA-1F2E-40AE-BCEA-DEACB8B1485D}" srcId="{D36A43C0-475E-4831-9FBC-CCA5B27EB6DD}" destId="{8D9DCB0F-2619-4C59-B317-8D7407E4DC63}" srcOrd="2" destOrd="0" parTransId="{48C8CCE5-3250-4FAE-868D-F9B2B8DD94CB}" sibTransId="{69BA4017-2DF8-42B1-B8F2-EA37BECFCF32}"/>
    <dgm:cxn modelId="{E0EAC9AB-E72E-4C2A-A22D-F1CD1E753C57}" type="presParOf" srcId="{39C239C9-2071-4FEA-B57A-223907BB32FA}" destId="{285A9336-6391-4A92-A99D-BCE785656B6F}" srcOrd="0" destOrd="0" presId="urn:microsoft.com/office/officeart/2005/8/layout/hierarchy1"/>
    <dgm:cxn modelId="{CB69FC3F-5EC5-4EE0-ADC5-E9669591BAE6}" type="presParOf" srcId="{285A9336-6391-4A92-A99D-BCE785656B6F}" destId="{DC048718-2B1B-4E8F-9273-A7E669A2A305}" srcOrd="0" destOrd="0" presId="urn:microsoft.com/office/officeart/2005/8/layout/hierarchy1"/>
    <dgm:cxn modelId="{CEFB7A92-0AE7-4B0D-B3DF-5267ACD61BC8}" type="presParOf" srcId="{DC048718-2B1B-4E8F-9273-A7E669A2A305}" destId="{F6280566-9183-4833-9E06-D33CC5CDAA86}" srcOrd="0" destOrd="0" presId="urn:microsoft.com/office/officeart/2005/8/layout/hierarchy1"/>
    <dgm:cxn modelId="{E3860121-4882-4F12-8059-A2E20D946037}" type="presParOf" srcId="{DC048718-2B1B-4E8F-9273-A7E669A2A305}" destId="{61DEAF3D-540E-43D4-A309-8FF95886BE62}" srcOrd="1" destOrd="0" presId="urn:microsoft.com/office/officeart/2005/8/layout/hierarchy1"/>
    <dgm:cxn modelId="{C9EDD786-BFFB-41EF-8DB5-695B0572FB30}" type="presParOf" srcId="{285A9336-6391-4A92-A99D-BCE785656B6F}" destId="{EE1EFFA4-D3A5-4B53-9D2C-CD7B63517E71}" srcOrd="1" destOrd="0" presId="urn:microsoft.com/office/officeart/2005/8/layout/hierarchy1"/>
    <dgm:cxn modelId="{3F24FC9A-2FF5-4E64-86AA-E7FDE5DE950C}" type="presParOf" srcId="{39C239C9-2071-4FEA-B57A-223907BB32FA}" destId="{B41270B2-6A7B-40DB-8F56-8CB669937B47}" srcOrd="1" destOrd="0" presId="urn:microsoft.com/office/officeart/2005/8/layout/hierarchy1"/>
    <dgm:cxn modelId="{95A88CF8-04C6-4347-AA79-1F81B3C8C8CE}" type="presParOf" srcId="{B41270B2-6A7B-40DB-8F56-8CB669937B47}" destId="{F57EBD94-2787-4D52-8321-2C45C96D5022}" srcOrd="0" destOrd="0" presId="urn:microsoft.com/office/officeart/2005/8/layout/hierarchy1"/>
    <dgm:cxn modelId="{7CED2E94-ADA7-4FA5-9559-43D320DAE5D4}" type="presParOf" srcId="{F57EBD94-2787-4D52-8321-2C45C96D5022}" destId="{01413625-CF47-4FA5-8566-C05926C80B62}" srcOrd="0" destOrd="0" presId="urn:microsoft.com/office/officeart/2005/8/layout/hierarchy1"/>
    <dgm:cxn modelId="{BD4AC524-A586-4D1C-AF14-06CCF0831387}" type="presParOf" srcId="{F57EBD94-2787-4D52-8321-2C45C96D5022}" destId="{D422F7D0-D967-447F-8B8D-A5CA7FAE54D4}" srcOrd="1" destOrd="0" presId="urn:microsoft.com/office/officeart/2005/8/layout/hierarchy1"/>
    <dgm:cxn modelId="{D19A066F-7AB1-49C8-BF25-C902270AAE7C}" type="presParOf" srcId="{B41270B2-6A7B-40DB-8F56-8CB669937B47}" destId="{BCDEEF18-51C5-41B7-9712-3533F8318645}" srcOrd="1" destOrd="0" presId="urn:microsoft.com/office/officeart/2005/8/layout/hierarchy1"/>
    <dgm:cxn modelId="{A144BBB8-D788-49B6-AAEB-217B1B72947D}" type="presParOf" srcId="{39C239C9-2071-4FEA-B57A-223907BB32FA}" destId="{EAB4724F-B275-4F88-8219-96DDADB53966}" srcOrd="2" destOrd="0" presId="urn:microsoft.com/office/officeart/2005/8/layout/hierarchy1"/>
    <dgm:cxn modelId="{E7C5EC21-01F1-4FA9-B6E5-479E4B2C7005}" type="presParOf" srcId="{EAB4724F-B275-4F88-8219-96DDADB53966}" destId="{C7DD12C0-0F53-42FD-9C2D-627B662EE889}" srcOrd="0" destOrd="0" presId="urn:microsoft.com/office/officeart/2005/8/layout/hierarchy1"/>
    <dgm:cxn modelId="{F5DC3772-58E8-407A-B565-FBA1DCF9FBFD}" type="presParOf" srcId="{C7DD12C0-0F53-42FD-9C2D-627B662EE889}" destId="{E80D7C70-AF6D-4BB5-9464-EAE18557C1A9}" srcOrd="0" destOrd="0" presId="urn:microsoft.com/office/officeart/2005/8/layout/hierarchy1"/>
    <dgm:cxn modelId="{85430567-E9B3-4601-9037-B152CCCC8247}" type="presParOf" srcId="{C7DD12C0-0F53-42FD-9C2D-627B662EE889}" destId="{713CD606-7A80-47D4-8D9F-D64A9D01D14D}" srcOrd="1" destOrd="0" presId="urn:microsoft.com/office/officeart/2005/8/layout/hierarchy1"/>
    <dgm:cxn modelId="{4CA4E4E5-73E4-4C7B-A5A5-5D9292A35468}" type="presParOf" srcId="{EAB4724F-B275-4F88-8219-96DDADB53966}" destId="{9797FAAC-BC66-4782-B7AD-4B83DC131159}" srcOrd="1" destOrd="0" presId="urn:microsoft.com/office/officeart/2005/8/layout/hierarchy1"/>
    <dgm:cxn modelId="{D2DAF721-9AFA-4860-8BAB-59CEF51E8DB5}" type="presParOf" srcId="{9797FAAC-BC66-4782-B7AD-4B83DC131159}" destId="{ACD96A3C-BCA4-4E15-BC42-6A9A7903E330}" srcOrd="0" destOrd="0" presId="urn:microsoft.com/office/officeart/2005/8/layout/hierarchy1"/>
    <dgm:cxn modelId="{B71F5DD0-8C70-437C-8F99-A14B976085C6}" type="presParOf" srcId="{9797FAAC-BC66-4782-B7AD-4B83DC131159}" destId="{3E0410DC-03BF-4550-95F3-BF2F94C288EC}" srcOrd="1" destOrd="0" presId="urn:microsoft.com/office/officeart/2005/8/layout/hierarchy1"/>
    <dgm:cxn modelId="{4EC2A6FE-777E-4ABC-BDC2-2DA4906159BC}" type="presParOf" srcId="{3E0410DC-03BF-4550-95F3-BF2F94C288EC}" destId="{1B82FCDD-5C14-4D6A-9D19-CE614DF79C94}" srcOrd="0" destOrd="0" presId="urn:microsoft.com/office/officeart/2005/8/layout/hierarchy1"/>
    <dgm:cxn modelId="{D6F152F0-7A42-4DD0-AE67-86A24F3DFED9}" type="presParOf" srcId="{1B82FCDD-5C14-4D6A-9D19-CE614DF79C94}" destId="{67F866BD-F3FA-4379-BC9C-8A173AD82DCD}" srcOrd="0" destOrd="0" presId="urn:microsoft.com/office/officeart/2005/8/layout/hierarchy1"/>
    <dgm:cxn modelId="{15AB3A16-D973-46A5-AB9E-29D0D579CE8A}" type="presParOf" srcId="{1B82FCDD-5C14-4D6A-9D19-CE614DF79C94}" destId="{153C8FAF-6A55-4A2C-A92A-7F95F806BB22}" srcOrd="1" destOrd="0" presId="urn:microsoft.com/office/officeart/2005/8/layout/hierarchy1"/>
    <dgm:cxn modelId="{A3B531B0-2826-458C-9659-1C6907290A1D}" type="presParOf" srcId="{3E0410DC-03BF-4550-95F3-BF2F94C288EC}" destId="{676CB252-326E-4096-B6D5-5612FD9F944E}" srcOrd="1" destOrd="0" presId="urn:microsoft.com/office/officeart/2005/8/layout/hierarchy1"/>
    <dgm:cxn modelId="{D04F315D-1A49-4DF3-895A-9A3ADA2728D9}" type="presParOf" srcId="{9797FAAC-BC66-4782-B7AD-4B83DC131159}" destId="{27207E54-DA36-4E11-A0FD-E9AF9A1E2595}" srcOrd="2" destOrd="0" presId="urn:microsoft.com/office/officeart/2005/8/layout/hierarchy1"/>
    <dgm:cxn modelId="{1E9AF0B0-8483-424A-84F2-A2B1CAB915F2}" type="presParOf" srcId="{9797FAAC-BC66-4782-B7AD-4B83DC131159}" destId="{AFD78852-B4B5-48EE-AA66-36E19B5E20A3}" srcOrd="3" destOrd="0" presId="urn:microsoft.com/office/officeart/2005/8/layout/hierarchy1"/>
    <dgm:cxn modelId="{5334B027-DA87-4F0D-9904-826D60001DFF}" type="presParOf" srcId="{AFD78852-B4B5-48EE-AA66-36E19B5E20A3}" destId="{CC504DFC-00F3-4628-BE0E-526F674FBC0B}" srcOrd="0" destOrd="0" presId="urn:microsoft.com/office/officeart/2005/8/layout/hierarchy1"/>
    <dgm:cxn modelId="{CFF4317B-CAC4-41B2-84C0-9FCEA18E3EB7}" type="presParOf" srcId="{CC504DFC-00F3-4628-BE0E-526F674FBC0B}" destId="{48EA79C2-BBF5-44F9-BCFD-5D01FC2EF4AA}" srcOrd="0" destOrd="0" presId="urn:microsoft.com/office/officeart/2005/8/layout/hierarchy1"/>
    <dgm:cxn modelId="{CAF4C79B-1A80-435D-9AF8-5C8ED076EE73}" type="presParOf" srcId="{CC504DFC-00F3-4628-BE0E-526F674FBC0B}" destId="{3AAA9EAA-C4D5-4100-8483-BA888957F366}" srcOrd="1" destOrd="0" presId="urn:microsoft.com/office/officeart/2005/8/layout/hierarchy1"/>
    <dgm:cxn modelId="{0D84DAF9-95EB-42B4-9F43-7E4D1D5E969E}" type="presParOf" srcId="{AFD78852-B4B5-48EE-AA66-36E19B5E20A3}" destId="{0264E053-4F96-4470-9DAA-E2CBDE8CA086}" srcOrd="1" destOrd="0" presId="urn:microsoft.com/office/officeart/2005/8/layout/hierarchy1"/>
    <dgm:cxn modelId="{F84F2952-2470-4762-9A46-2ADB750371AC}" type="presParOf" srcId="{9797FAAC-BC66-4782-B7AD-4B83DC131159}" destId="{AB08487B-F45B-49C9-A725-03FD8B82AC5B}" srcOrd="4" destOrd="0" presId="urn:microsoft.com/office/officeart/2005/8/layout/hierarchy1"/>
    <dgm:cxn modelId="{678ED2F3-9831-492C-8B78-0AD14C567071}" type="presParOf" srcId="{9797FAAC-BC66-4782-B7AD-4B83DC131159}" destId="{C35D9501-A289-48EE-8FB1-2E7920A8B5E9}" srcOrd="5" destOrd="0" presId="urn:microsoft.com/office/officeart/2005/8/layout/hierarchy1"/>
    <dgm:cxn modelId="{214F96ED-E078-47EB-B1C4-DF5D7EF2DE07}" type="presParOf" srcId="{C35D9501-A289-48EE-8FB1-2E7920A8B5E9}" destId="{9D03FC86-6F7E-4A16-913D-7BE8A9B69220}" srcOrd="0" destOrd="0" presId="urn:microsoft.com/office/officeart/2005/8/layout/hierarchy1"/>
    <dgm:cxn modelId="{F7DC01C9-3FE3-4AC7-93EC-5950654ADB1C}" type="presParOf" srcId="{9D03FC86-6F7E-4A16-913D-7BE8A9B69220}" destId="{3DA1387A-F651-433C-859C-167A8FD59407}" srcOrd="0" destOrd="0" presId="urn:microsoft.com/office/officeart/2005/8/layout/hierarchy1"/>
    <dgm:cxn modelId="{82A7EF8C-42D1-400E-BF3A-4837E0AAC0B6}" type="presParOf" srcId="{9D03FC86-6F7E-4A16-913D-7BE8A9B69220}" destId="{45C175D6-4033-45DE-B18B-EC7ABD88E5A4}" srcOrd="1" destOrd="0" presId="urn:microsoft.com/office/officeart/2005/8/layout/hierarchy1"/>
    <dgm:cxn modelId="{79042F33-9B8D-4F8B-8479-32D4D778F6FE}" type="presParOf" srcId="{C35D9501-A289-48EE-8FB1-2E7920A8B5E9}" destId="{07ED7E0D-0163-4F87-B534-C1CBFE49F9F5}" srcOrd="1" destOrd="0" presId="urn:microsoft.com/office/officeart/2005/8/layout/hierarchy1"/>
    <dgm:cxn modelId="{4B930427-4413-4069-A7CB-9ED319D7789A}" type="presParOf" srcId="{9797FAAC-BC66-4782-B7AD-4B83DC131159}" destId="{DF01D293-C4DB-4CFD-9463-BA63223AFD93}" srcOrd="6" destOrd="0" presId="urn:microsoft.com/office/officeart/2005/8/layout/hierarchy1"/>
    <dgm:cxn modelId="{9793DBAA-5D3A-4E74-8378-8CA33FF31EDF}" type="presParOf" srcId="{9797FAAC-BC66-4782-B7AD-4B83DC131159}" destId="{66C8EFF2-C651-4FB4-92E3-DA102CA4AC6A}" srcOrd="7" destOrd="0" presId="urn:microsoft.com/office/officeart/2005/8/layout/hierarchy1"/>
    <dgm:cxn modelId="{80785CAD-1ACC-4492-AFA5-1D5E857C8BE5}" type="presParOf" srcId="{66C8EFF2-C651-4FB4-92E3-DA102CA4AC6A}" destId="{3A5B89E7-FE75-4607-923A-4EDD9AB9385B}" srcOrd="0" destOrd="0" presId="urn:microsoft.com/office/officeart/2005/8/layout/hierarchy1"/>
    <dgm:cxn modelId="{19BE5025-845B-46E6-B916-40DB3675C70E}" type="presParOf" srcId="{3A5B89E7-FE75-4607-923A-4EDD9AB9385B}" destId="{2701838E-B21C-4BE6-A907-0B4EC933EB33}" srcOrd="0" destOrd="0" presId="urn:microsoft.com/office/officeart/2005/8/layout/hierarchy1"/>
    <dgm:cxn modelId="{5C8CA530-955B-44A3-A17A-FF4CA5E49F1D}" type="presParOf" srcId="{3A5B89E7-FE75-4607-923A-4EDD9AB9385B}" destId="{E3DA5168-3A35-4B27-A5EF-DFC770AD1626}" srcOrd="1" destOrd="0" presId="urn:microsoft.com/office/officeart/2005/8/layout/hierarchy1"/>
    <dgm:cxn modelId="{1259713D-2032-4F22-8EB6-2D5670AF4F90}" type="presParOf" srcId="{66C8EFF2-C651-4FB4-92E3-DA102CA4AC6A}" destId="{CA431862-1388-4136-A4CF-6039DE96DC8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01D293-C4DB-4CFD-9463-BA63223AFD93}">
      <dsp:nvSpPr>
        <dsp:cNvPr id="0" name=""/>
        <dsp:cNvSpPr/>
      </dsp:nvSpPr>
      <dsp:spPr>
        <a:xfrm>
          <a:off x="4886796" y="1565041"/>
          <a:ext cx="3040954" cy="4824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8745"/>
              </a:lnTo>
              <a:lnTo>
                <a:pt x="3040954" y="328745"/>
              </a:lnTo>
              <a:lnTo>
                <a:pt x="3040954" y="48240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08487B-F45B-49C9-A725-03FD8B82AC5B}">
      <dsp:nvSpPr>
        <dsp:cNvPr id="0" name=""/>
        <dsp:cNvSpPr/>
      </dsp:nvSpPr>
      <dsp:spPr>
        <a:xfrm>
          <a:off x="4886796" y="1565041"/>
          <a:ext cx="1013651" cy="4824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8745"/>
              </a:lnTo>
              <a:lnTo>
                <a:pt x="1013651" y="328745"/>
              </a:lnTo>
              <a:lnTo>
                <a:pt x="1013651" y="48240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207E54-DA36-4E11-A0FD-E9AF9A1E2595}">
      <dsp:nvSpPr>
        <dsp:cNvPr id="0" name=""/>
        <dsp:cNvSpPr/>
      </dsp:nvSpPr>
      <dsp:spPr>
        <a:xfrm>
          <a:off x="3873144" y="1565041"/>
          <a:ext cx="1013651" cy="482405"/>
        </a:xfrm>
        <a:custGeom>
          <a:avLst/>
          <a:gdLst/>
          <a:ahLst/>
          <a:cxnLst/>
          <a:rect l="0" t="0" r="0" b="0"/>
          <a:pathLst>
            <a:path>
              <a:moveTo>
                <a:pt x="1013651" y="0"/>
              </a:moveTo>
              <a:lnTo>
                <a:pt x="1013651" y="328745"/>
              </a:lnTo>
              <a:lnTo>
                <a:pt x="0" y="328745"/>
              </a:lnTo>
              <a:lnTo>
                <a:pt x="0" y="48240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D96A3C-BCA4-4E15-BC42-6A9A7903E330}">
      <dsp:nvSpPr>
        <dsp:cNvPr id="0" name=""/>
        <dsp:cNvSpPr/>
      </dsp:nvSpPr>
      <dsp:spPr>
        <a:xfrm>
          <a:off x="1845841" y="1565041"/>
          <a:ext cx="3040954" cy="482405"/>
        </a:xfrm>
        <a:custGeom>
          <a:avLst/>
          <a:gdLst/>
          <a:ahLst/>
          <a:cxnLst/>
          <a:rect l="0" t="0" r="0" b="0"/>
          <a:pathLst>
            <a:path>
              <a:moveTo>
                <a:pt x="3040954" y="0"/>
              </a:moveTo>
              <a:lnTo>
                <a:pt x="3040954" y="328745"/>
              </a:lnTo>
              <a:lnTo>
                <a:pt x="0" y="328745"/>
              </a:lnTo>
              <a:lnTo>
                <a:pt x="0" y="48240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280566-9183-4833-9E06-D33CC5CDAA86}">
      <dsp:nvSpPr>
        <dsp:cNvPr id="0" name=""/>
        <dsp:cNvSpPr/>
      </dsp:nvSpPr>
      <dsp:spPr>
        <a:xfrm>
          <a:off x="2838" y="511765"/>
          <a:ext cx="1658702" cy="10532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DEAF3D-540E-43D4-A309-8FF95886BE62}">
      <dsp:nvSpPr>
        <dsp:cNvPr id="0" name=""/>
        <dsp:cNvSpPr/>
      </dsp:nvSpPr>
      <dsp:spPr>
        <a:xfrm>
          <a:off x="187139" y="686851"/>
          <a:ext cx="1658702" cy="10532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0" i="0" kern="1200"/>
            <a:t>A </a:t>
          </a:r>
          <a:r>
            <a:rPr lang="en-GB" sz="1000" b="1" i="0" kern="1200"/>
            <a:t>food hazard </a:t>
          </a:r>
          <a:r>
            <a:rPr lang="en-GB" sz="1000" b="0" i="0" kern="1200"/>
            <a:t>is something dangerous that could make food unsafe or unfit to eat. </a:t>
          </a:r>
          <a:endParaRPr lang="en-US" sz="1000" kern="1200"/>
        </a:p>
      </dsp:txBody>
      <dsp:txXfrm>
        <a:off x="217988" y="717700"/>
        <a:ext cx="1597004" cy="991578"/>
      </dsp:txXfrm>
    </dsp:sp>
    <dsp:sp modelId="{01413625-CF47-4FA5-8566-C05926C80B62}">
      <dsp:nvSpPr>
        <dsp:cNvPr id="0" name=""/>
        <dsp:cNvSpPr/>
      </dsp:nvSpPr>
      <dsp:spPr>
        <a:xfrm>
          <a:off x="2030141" y="511765"/>
          <a:ext cx="1658702" cy="10532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22F7D0-D967-447F-8B8D-A5CA7FAE54D4}">
      <dsp:nvSpPr>
        <dsp:cNvPr id="0" name=""/>
        <dsp:cNvSpPr/>
      </dsp:nvSpPr>
      <dsp:spPr>
        <a:xfrm>
          <a:off x="2214442" y="686851"/>
          <a:ext cx="1658702" cy="10532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0" i="0" kern="1200"/>
            <a:t>The food business MUST identify hazards at each stage of the processing flow so they can be removed or reduced to safe levels.</a:t>
          </a:r>
          <a:endParaRPr lang="en-US" sz="1000" kern="1200"/>
        </a:p>
      </dsp:txBody>
      <dsp:txXfrm>
        <a:off x="2245291" y="717700"/>
        <a:ext cx="1597004" cy="991578"/>
      </dsp:txXfrm>
    </dsp:sp>
    <dsp:sp modelId="{E80D7C70-AF6D-4BB5-9464-EAE18557C1A9}">
      <dsp:nvSpPr>
        <dsp:cNvPr id="0" name=""/>
        <dsp:cNvSpPr/>
      </dsp:nvSpPr>
      <dsp:spPr>
        <a:xfrm>
          <a:off x="4057444" y="511765"/>
          <a:ext cx="1658702" cy="10532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3CD606-7A80-47D4-8D9F-D64A9D01D14D}">
      <dsp:nvSpPr>
        <dsp:cNvPr id="0" name=""/>
        <dsp:cNvSpPr/>
      </dsp:nvSpPr>
      <dsp:spPr>
        <a:xfrm>
          <a:off x="4241745" y="686851"/>
          <a:ext cx="1658702" cy="10532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0" i="0" kern="1200"/>
            <a:t>There are three main types of food safety hazards:</a:t>
          </a:r>
          <a:endParaRPr lang="en-US" sz="1000" kern="1200"/>
        </a:p>
      </dsp:txBody>
      <dsp:txXfrm>
        <a:off x="4272594" y="717700"/>
        <a:ext cx="1597004" cy="991578"/>
      </dsp:txXfrm>
    </dsp:sp>
    <dsp:sp modelId="{67F866BD-F3FA-4379-BC9C-8A173AD82DCD}">
      <dsp:nvSpPr>
        <dsp:cNvPr id="0" name=""/>
        <dsp:cNvSpPr/>
      </dsp:nvSpPr>
      <dsp:spPr>
        <a:xfrm>
          <a:off x="1016490" y="2047447"/>
          <a:ext cx="1658702" cy="10532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3C8FAF-6A55-4A2C-A92A-7F95F806BB22}">
      <dsp:nvSpPr>
        <dsp:cNvPr id="0" name=""/>
        <dsp:cNvSpPr/>
      </dsp:nvSpPr>
      <dsp:spPr>
        <a:xfrm>
          <a:off x="1200790" y="2222533"/>
          <a:ext cx="1658702" cy="10532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/>
            <a:t>physical - involving objects getting into food</a:t>
          </a:r>
          <a:endParaRPr lang="en-US" sz="1000" kern="1200"/>
        </a:p>
      </dsp:txBody>
      <dsp:txXfrm>
        <a:off x="1231639" y="2253382"/>
        <a:ext cx="1597004" cy="991578"/>
      </dsp:txXfrm>
    </dsp:sp>
    <dsp:sp modelId="{48EA79C2-BBF5-44F9-BCFD-5D01FC2EF4AA}">
      <dsp:nvSpPr>
        <dsp:cNvPr id="0" name=""/>
        <dsp:cNvSpPr/>
      </dsp:nvSpPr>
      <dsp:spPr>
        <a:xfrm>
          <a:off x="3043793" y="2047447"/>
          <a:ext cx="1658702" cy="10532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AA9EAA-C4D5-4100-8483-BA888957F366}">
      <dsp:nvSpPr>
        <dsp:cNvPr id="0" name=""/>
        <dsp:cNvSpPr/>
      </dsp:nvSpPr>
      <dsp:spPr>
        <a:xfrm>
          <a:off x="3228093" y="2222533"/>
          <a:ext cx="1658702" cy="10532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/>
            <a:t>chemical - involving chemical contamination</a:t>
          </a:r>
          <a:endParaRPr lang="en-US" sz="1000" kern="1200"/>
        </a:p>
      </dsp:txBody>
      <dsp:txXfrm>
        <a:off x="3258942" y="2253382"/>
        <a:ext cx="1597004" cy="991578"/>
      </dsp:txXfrm>
    </dsp:sp>
    <dsp:sp modelId="{3DA1387A-F651-433C-859C-167A8FD59407}">
      <dsp:nvSpPr>
        <dsp:cNvPr id="0" name=""/>
        <dsp:cNvSpPr/>
      </dsp:nvSpPr>
      <dsp:spPr>
        <a:xfrm>
          <a:off x="5071096" y="2047447"/>
          <a:ext cx="1658702" cy="10532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C175D6-4033-45DE-B18B-EC7ABD88E5A4}">
      <dsp:nvSpPr>
        <dsp:cNvPr id="0" name=""/>
        <dsp:cNvSpPr/>
      </dsp:nvSpPr>
      <dsp:spPr>
        <a:xfrm>
          <a:off x="5255396" y="2222533"/>
          <a:ext cx="1658702" cy="10532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0" i="0" kern="1200"/>
            <a:t>microbiological - involving harmful bacteria</a:t>
          </a:r>
          <a:endParaRPr lang="en-US" sz="1000" kern="1200"/>
        </a:p>
      </dsp:txBody>
      <dsp:txXfrm>
        <a:off x="5286245" y="2253382"/>
        <a:ext cx="1597004" cy="991578"/>
      </dsp:txXfrm>
    </dsp:sp>
    <dsp:sp modelId="{2701838E-B21C-4BE6-A907-0B4EC933EB33}">
      <dsp:nvSpPr>
        <dsp:cNvPr id="0" name=""/>
        <dsp:cNvSpPr/>
      </dsp:nvSpPr>
      <dsp:spPr>
        <a:xfrm>
          <a:off x="7098399" y="2047447"/>
          <a:ext cx="1658702" cy="10532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DA5168-3A35-4B27-A5EF-DFC770AD1626}">
      <dsp:nvSpPr>
        <dsp:cNvPr id="0" name=""/>
        <dsp:cNvSpPr/>
      </dsp:nvSpPr>
      <dsp:spPr>
        <a:xfrm>
          <a:off x="7282699" y="2222533"/>
          <a:ext cx="1658702" cy="10532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/>
            <a:t>Allergen – evolving the 12 allergens listed by the EU/UK government</a:t>
          </a:r>
          <a:endParaRPr lang="en-US" sz="1000" kern="1200"/>
        </a:p>
      </dsp:txBody>
      <dsp:txXfrm>
        <a:off x="7313548" y="2253382"/>
        <a:ext cx="1597004" cy="991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081596-E199-F305-2783-34AE3DACFC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7F4500-4571-A7DA-287B-BBA96A0471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86B19C-54C0-4CDD-B52B-1D2B9320323D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1E64ED-8443-47D5-66A0-B0A512638A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33108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Test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C743C0-17C6-9CD4-5535-EBE7E486EF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8645" y="9433108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86780-8B70-4867-96A4-D1C5AEADB7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803654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05933" y="4717415"/>
            <a:ext cx="4982634" cy="446913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8B4D8-93B3-7D2A-90D4-B7680F856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BF360-EE6A-666B-E06C-76C17567A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603693-C468-AAF4-76E4-F7E655D48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4335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1F5B5-6AE3-039E-4D3B-0A2398AE8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7E991F-7D39-684E-78C9-25AFD1CB9E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39AF5D-B181-7F1F-D54F-54D3515AC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37109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12783-185E-25A3-2100-9BC27FD65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DFE19-E867-14E2-75D2-289DBDB8B9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F867F4-C954-2AA2-159B-E0613AA872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71086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12A59-CBC3-B89B-D835-0C091C443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41A83E-2C28-1FBB-A518-46908678F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7DF176-1286-DDE0-C738-586F23BAB5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8737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</p:sldLayoutIdLst>
  <p:transition spd="med"/>
  <p:hf sldNum="0" hdr="0" dt="0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gislation.gov.uk/eur/2004/852" TargetMode="External"/><Relationship Id="rId2" Type="http://schemas.openxmlformats.org/officeDocument/2006/relationships/hyperlink" Target="https://www.fao.org/fao-who-codexalimentarius/en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eh.org/training-and-courses/work-based-training/haccp/" TargetMode="External"/><Relationship Id="rId2" Type="http://schemas.openxmlformats.org/officeDocument/2006/relationships/hyperlink" Target="https://www.food.gov.uk/business-guidance/hazard-analysis-and-critical-control-point-haccp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fao.org/fao-who-codexalimentarius" TargetMode="External"/><Relationship Id="rId4" Type="http://schemas.openxmlformats.org/officeDocument/2006/relationships/hyperlink" Target="https://www.gov.uk/food-safety-hazard-analysis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7" name="Rectangle 116">
            <a:extLst>
              <a:ext uri="{FF2B5EF4-FFF2-40B4-BE49-F238E27FC236}">
                <a16:creationId xmlns:a16="http://schemas.microsoft.com/office/drawing/2014/main" id="{0A597D97-203B-498B-95D3-E90DC961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8" name="Freeform: Shape 117">
            <a:extLst>
              <a:ext uri="{FF2B5EF4-FFF2-40B4-BE49-F238E27FC236}">
                <a16:creationId xmlns:a16="http://schemas.microsoft.com/office/drawing/2014/main" id="{6A6EF10E-DF41-4BD3-8EB4-6F646531D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83204" cy="6858000"/>
          </a:xfrm>
          <a:custGeom>
            <a:avLst/>
            <a:gdLst>
              <a:gd name="connsiteX0" fmla="*/ 0 w 6244272"/>
              <a:gd name="connsiteY0" fmla="*/ 0 h 6858000"/>
              <a:gd name="connsiteX1" fmla="*/ 732568 w 6244272"/>
              <a:gd name="connsiteY1" fmla="*/ 0 h 6858000"/>
              <a:gd name="connsiteX2" fmla="*/ 947849 w 6244272"/>
              <a:gd name="connsiteY2" fmla="*/ 0 h 6858000"/>
              <a:gd name="connsiteX3" fmla="*/ 1823619 w 6244272"/>
              <a:gd name="connsiteY3" fmla="*/ 0 h 6858000"/>
              <a:gd name="connsiteX4" fmla="*/ 5235673 w 6244272"/>
              <a:gd name="connsiteY4" fmla="*/ 0 h 6858000"/>
              <a:gd name="connsiteX5" fmla="*/ 4933297 w 6244272"/>
              <a:gd name="connsiteY5" fmla="*/ 110269 h 6858000"/>
              <a:gd name="connsiteX6" fmla="*/ 4976910 w 6244272"/>
              <a:gd name="connsiteY6" fmla="*/ 135168 h 6858000"/>
              <a:gd name="connsiteX7" fmla="*/ 5238580 w 6244272"/>
              <a:gd name="connsiteY7" fmla="*/ 71141 h 6858000"/>
              <a:gd name="connsiteX8" fmla="*/ 5290914 w 6244272"/>
              <a:gd name="connsiteY8" fmla="*/ 88927 h 6858000"/>
              <a:gd name="connsiteX9" fmla="*/ 5264747 w 6244272"/>
              <a:gd name="connsiteY9" fmla="*/ 163625 h 6858000"/>
              <a:gd name="connsiteX10" fmla="*/ 5151357 w 6244272"/>
              <a:gd name="connsiteY10" fmla="*/ 192082 h 6858000"/>
              <a:gd name="connsiteX11" fmla="*/ 4974002 w 6244272"/>
              <a:gd name="connsiteY11" fmla="*/ 373491 h 6858000"/>
              <a:gd name="connsiteX12" fmla="*/ 5241488 w 6244272"/>
              <a:gd name="connsiteY12" fmla="*/ 352148 h 6858000"/>
              <a:gd name="connsiteX13" fmla="*/ 5288007 w 6244272"/>
              <a:gd name="connsiteY13" fmla="*/ 394834 h 6858000"/>
              <a:gd name="connsiteX14" fmla="*/ 5305452 w 6244272"/>
              <a:gd name="connsiteY14" fmla="*/ 451747 h 6858000"/>
              <a:gd name="connsiteX15" fmla="*/ 5383953 w 6244272"/>
              <a:gd name="connsiteY15" fmla="*/ 359262 h 6858000"/>
              <a:gd name="connsiteX16" fmla="*/ 5450825 w 6244272"/>
              <a:gd name="connsiteY16" fmla="*/ 334364 h 6858000"/>
              <a:gd name="connsiteX17" fmla="*/ 5471177 w 6244272"/>
              <a:gd name="connsiteY17" fmla="*/ 416176 h 6858000"/>
              <a:gd name="connsiteX18" fmla="*/ 5410121 w 6244272"/>
              <a:gd name="connsiteY18" fmla="*/ 505101 h 6858000"/>
              <a:gd name="connsiteX19" fmla="*/ 5247303 w 6244272"/>
              <a:gd name="connsiteY19" fmla="*/ 558458 h 6858000"/>
              <a:gd name="connsiteX20" fmla="*/ 5421750 w 6244272"/>
              <a:gd name="connsiteY20" fmla="*/ 558458 h 6858000"/>
              <a:gd name="connsiteX21" fmla="*/ 5622364 w 6244272"/>
              <a:gd name="connsiteY21" fmla="*/ 522887 h 6858000"/>
              <a:gd name="connsiteX22" fmla="*/ 5834608 w 6244272"/>
              <a:gd name="connsiteY22" fmla="*/ 533558 h 6858000"/>
              <a:gd name="connsiteX23" fmla="*/ 6035223 w 6244272"/>
              <a:gd name="connsiteY23" fmla="*/ 462417 h 6858000"/>
              <a:gd name="connsiteX24" fmla="*/ 6238745 w 6244272"/>
              <a:gd name="connsiteY24" fmla="*/ 465975 h 6858000"/>
              <a:gd name="connsiteX25" fmla="*/ 5337434 w 6244272"/>
              <a:gd name="connsiteY25" fmla="*/ 910606 h 6858000"/>
              <a:gd name="connsiteX26" fmla="*/ 5381046 w 6244272"/>
              <a:gd name="connsiteY26" fmla="*/ 921277 h 6858000"/>
              <a:gd name="connsiteX27" fmla="*/ 5439195 w 6244272"/>
              <a:gd name="connsiteY27" fmla="*/ 949734 h 6858000"/>
              <a:gd name="connsiteX28" fmla="*/ 5395583 w 6244272"/>
              <a:gd name="connsiteY28" fmla="*/ 1006647 h 6858000"/>
              <a:gd name="connsiteX29" fmla="*/ 5160079 w 6244272"/>
              <a:gd name="connsiteY29" fmla="*/ 1113358 h 6858000"/>
              <a:gd name="connsiteX30" fmla="*/ 5101930 w 6244272"/>
              <a:gd name="connsiteY30" fmla="*/ 1220069 h 6858000"/>
              <a:gd name="connsiteX31" fmla="*/ 5174617 w 6244272"/>
              <a:gd name="connsiteY31" fmla="*/ 1209399 h 6858000"/>
              <a:gd name="connsiteX32" fmla="*/ 5238580 w 6244272"/>
              <a:gd name="connsiteY32" fmla="*/ 1230741 h 6858000"/>
              <a:gd name="connsiteX33" fmla="*/ 5212414 w 6244272"/>
              <a:gd name="connsiteY33" fmla="*/ 1365909 h 6858000"/>
              <a:gd name="connsiteX34" fmla="*/ 4878056 w 6244272"/>
              <a:gd name="connsiteY34" fmla="*/ 1540204 h 6858000"/>
              <a:gd name="connsiteX35" fmla="*/ 4848982 w 6244272"/>
              <a:gd name="connsiteY35" fmla="*/ 1597117 h 6858000"/>
              <a:gd name="connsiteX36" fmla="*/ 4889686 w 6244272"/>
              <a:gd name="connsiteY36" fmla="*/ 1636245 h 6858000"/>
              <a:gd name="connsiteX37" fmla="*/ 4997261 w 6244272"/>
              <a:gd name="connsiteY37" fmla="*/ 1657587 h 6858000"/>
              <a:gd name="connsiteX38" fmla="*/ 4846074 w 6244272"/>
              <a:gd name="connsiteY38" fmla="*/ 1849668 h 6858000"/>
              <a:gd name="connsiteX39" fmla="*/ 4790832 w 6244272"/>
              <a:gd name="connsiteY39" fmla="*/ 1903025 h 6858000"/>
              <a:gd name="connsiteX40" fmla="*/ 4694886 w 6244272"/>
              <a:gd name="connsiteY40" fmla="*/ 1984836 h 6858000"/>
              <a:gd name="connsiteX41" fmla="*/ 4694886 w 6244272"/>
              <a:gd name="connsiteY41" fmla="*/ 2013292 h 6858000"/>
              <a:gd name="connsiteX42" fmla="*/ 4822814 w 6244272"/>
              <a:gd name="connsiteY42" fmla="*/ 2102219 h 6858000"/>
              <a:gd name="connsiteX43" fmla="*/ 5055411 w 6244272"/>
              <a:gd name="connsiteY43" fmla="*/ 2077320 h 6858000"/>
              <a:gd name="connsiteX44" fmla="*/ 4712331 w 6244272"/>
              <a:gd name="connsiteY44" fmla="*/ 2208931 h 6858000"/>
              <a:gd name="connsiteX45" fmla="*/ 5822979 w 6244272"/>
              <a:gd name="connsiteY45" fmla="*/ 1892353 h 6858000"/>
              <a:gd name="connsiteX46" fmla="*/ 5753200 w 6244272"/>
              <a:gd name="connsiteY46" fmla="*/ 1974165 h 6858000"/>
              <a:gd name="connsiteX47" fmla="*/ 5363601 w 6244272"/>
              <a:gd name="connsiteY47" fmla="*/ 2191146 h 6858000"/>
              <a:gd name="connsiteX48" fmla="*/ 5253118 w 6244272"/>
              <a:gd name="connsiteY48" fmla="*/ 2326314 h 6858000"/>
              <a:gd name="connsiteX49" fmla="*/ 5136819 w 6244272"/>
              <a:gd name="connsiteY49" fmla="*/ 2401012 h 6858000"/>
              <a:gd name="connsiteX50" fmla="*/ 4974002 w 6244272"/>
              <a:gd name="connsiteY50" fmla="*/ 2401012 h 6858000"/>
              <a:gd name="connsiteX51" fmla="*/ 4857704 w 6244272"/>
              <a:gd name="connsiteY51" fmla="*/ 2518395 h 6858000"/>
              <a:gd name="connsiteX52" fmla="*/ 4976910 w 6244272"/>
              <a:gd name="connsiteY52" fmla="*/ 2543294 h 6858000"/>
              <a:gd name="connsiteX53" fmla="*/ 5116467 w 6244272"/>
              <a:gd name="connsiteY53" fmla="*/ 2525509 h 6858000"/>
              <a:gd name="connsiteX54" fmla="*/ 5273470 w 6244272"/>
              <a:gd name="connsiteY54" fmla="*/ 2564636 h 6858000"/>
              <a:gd name="connsiteX55" fmla="*/ 5418843 w 6244272"/>
              <a:gd name="connsiteY55" fmla="*/ 2532623 h 6858000"/>
              <a:gd name="connsiteX56" fmla="*/ 5593290 w 6244272"/>
              <a:gd name="connsiteY56" fmla="*/ 2553965 h 6858000"/>
              <a:gd name="connsiteX57" fmla="*/ 5648532 w 6244272"/>
              <a:gd name="connsiteY57" fmla="*/ 2692689 h 6858000"/>
              <a:gd name="connsiteX58" fmla="*/ 5665976 w 6244272"/>
              <a:gd name="connsiteY58" fmla="*/ 2703362 h 6858000"/>
              <a:gd name="connsiteX59" fmla="*/ 5988704 w 6244272"/>
              <a:gd name="connsiteY59" fmla="*/ 2923898 h 6858000"/>
              <a:gd name="connsiteX60" fmla="*/ 6078835 w 6244272"/>
              <a:gd name="connsiteY60" fmla="*/ 2941684 h 6858000"/>
              <a:gd name="connsiteX61" fmla="*/ 5546771 w 6244272"/>
              <a:gd name="connsiteY61" fmla="*/ 3329402 h 6858000"/>
              <a:gd name="connsiteX62" fmla="*/ 5904388 w 6244272"/>
              <a:gd name="connsiteY62" fmla="*/ 3229805 h 6858000"/>
              <a:gd name="connsiteX63" fmla="*/ 5953814 w 6244272"/>
              <a:gd name="connsiteY63" fmla="*/ 3393429 h 6858000"/>
              <a:gd name="connsiteX64" fmla="*/ 5785182 w 6244272"/>
              <a:gd name="connsiteY64" fmla="*/ 3539269 h 6858000"/>
              <a:gd name="connsiteX65" fmla="*/ 5724125 w 6244272"/>
              <a:gd name="connsiteY65" fmla="*/ 3827390 h 6858000"/>
              <a:gd name="connsiteX66" fmla="*/ 5753200 w 6244272"/>
              <a:gd name="connsiteY66" fmla="*/ 4090612 h 6858000"/>
              <a:gd name="connsiteX67" fmla="*/ 5825886 w 6244272"/>
              <a:gd name="connsiteY67" fmla="*/ 4172424 h 6858000"/>
              <a:gd name="connsiteX68" fmla="*/ 5930554 w 6244272"/>
              <a:gd name="connsiteY68" fmla="*/ 4321821 h 6858000"/>
              <a:gd name="connsiteX69" fmla="*/ 5994519 w 6244272"/>
              <a:gd name="connsiteY69" fmla="*/ 4414305 h 6858000"/>
              <a:gd name="connsiteX70" fmla="*/ 6218393 w 6244272"/>
              <a:gd name="connsiteY70" fmla="*/ 4378734 h 6858000"/>
              <a:gd name="connsiteX71" fmla="*/ 5918925 w 6244272"/>
              <a:gd name="connsiteY71" fmla="*/ 4613499 h 6858000"/>
              <a:gd name="connsiteX72" fmla="*/ 6160243 w 6244272"/>
              <a:gd name="connsiteY72" fmla="*/ 4585042 h 6858000"/>
              <a:gd name="connsiteX73" fmla="*/ 6238745 w 6244272"/>
              <a:gd name="connsiteY73" fmla="*/ 4602828 h 6858000"/>
              <a:gd name="connsiteX74" fmla="*/ 6195133 w 6244272"/>
              <a:gd name="connsiteY74" fmla="*/ 4677526 h 6858000"/>
              <a:gd name="connsiteX75" fmla="*/ 6017778 w 6244272"/>
              <a:gd name="connsiteY75" fmla="*/ 4805580 h 6858000"/>
              <a:gd name="connsiteX76" fmla="*/ 5651439 w 6244272"/>
              <a:gd name="connsiteY76" fmla="*/ 5154171 h 6858000"/>
              <a:gd name="connsiteX77" fmla="*/ 6006149 w 6244272"/>
              <a:gd name="connsiteY77" fmla="*/ 4994104 h 6858000"/>
              <a:gd name="connsiteX78" fmla="*/ 5633994 w 6244272"/>
              <a:gd name="connsiteY78" fmla="*/ 5353367 h 6858000"/>
              <a:gd name="connsiteX79" fmla="*/ 5552586 w 6244272"/>
              <a:gd name="connsiteY79" fmla="*/ 5474306 h 6858000"/>
              <a:gd name="connsiteX80" fmla="*/ 5383953 w 6244272"/>
              <a:gd name="connsiteY80" fmla="*/ 5769542 h 6858000"/>
              <a:gd name="connsiteX81" fmla="*/ 5392675 w 6244272"/>
              <a:gd name="connsiteY81" fmla="*/ 5801555 h 6858000"/>
              <a:gd name="connsiteX82" fmla="*/ 5584568 w 6244272"/>
              <a:gd name="connsiteY82" fmla="*/ 5755314 h 6858000"/>
              <a:gd name="connsiteX83" fmla="*/ 5334526 w 6244272"/>
              <a:gd name="connsiteY83" fmla="*/ 6004307 h 6858000"/>
              <a:gd name="connsiteX84" fmla="*/ 5075763 w 6244272"/>
              <a:gd name="connsiteY84" fmla="*/ 6196388 h 6858000"/>
              <a:gd name="connsiteX85" fmla="*/ 5258933 w 6244272"/>
              <a:gd name="connsiteY85" fmla="*/ 6167932 h 6858000"/>
              <a:gd name="connsiteX86" fmla="*/ 5511881 w 6244272"/>
              <a:gd name="connsiteY86" fmla="*/ 6057663 h 6858000"/>
              <a:gd name="connsiteX87" fmla="*/ 5599105 w 6244272"/>
              <a:gd name="connsiteY87" fmla="*/ 6100347 h 6858000"/>
              <a:gd name="connsiteX88" fmla="*/ 5360693 w 6244272"/>
              <a:gd name="connsiteY88" fmla="*/ 6281757 h 6858000"/>
              <a:gd name="connsiteX89" fmla="*/ 5224043 w 6244272"/>
              <a:gd name="connsiteY89" fmla="*/ 6367127 h 6858000"/>
              <a:gd name="connsiteX90" fmla="*/ 5168801 w 6244272"/>
              <a:gd name="connsiteY90" fmla="*/ 6431153 h 6858000"/>
              <a:gd name="connsiteX91" fmla="*/ 5011799 w 6244272"/>
              <a:gd name="connsiteY91" fmla="*/ 6658805 h 6858000"/>
              <a:gd name="connsiteX92" fmla="*/ 4651275 w 6244272"/>
              <a:gd name="connsiteY92" fmla="*/ 6858000 h 6858000"/>
              <a:gd name="connsiteX93" fmla="*/ 1823619 w 6244272"/>
              <a:gd name="connsiteY93" fmla="*/ 6858000 h 6858000"/>
              <a:gd name="connsiteX94" fmla="*/ 947849 w 6244272"/>
              <a:gd name="connsiteY94" fmla="*/ 6858000 h 6858000"/>
              <a:gd name="connsiteX95" fmla="*/ 732568 w 6244272"/>
              <a:gd name="connsiteY95" fmla="*/ 6858000 h 6858000"/>
              <a:gd name="connsiteX96" fmla="*/ 0 w 6244272"/>
              <a:gd name="connsiteY9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6244272" h="6858000">
                <a:moveTo>
                  <a:pt x="0" y="0"/>
                </a:moveTo>
                <a:lnTo>
                  <a:pt x="732568" y="0"/>
                </a:lnTo>
                <a:lnTo>
                  <a:pt x="947849" y="0"/>
                </a:lnTo>
                <a:lnTo>
                  <a:pt x="1823619" y="0"/>
                </a:lnTo>
                <a:lnTo>
                  <a:pt x="5235673" y="0"/>
                </a:lnTo>
                <a:cubicBezTo>
                  <a:pt x="5133912" y="35571"/>
                  <a:pt x="5035058" y="78255"/>
                  <a:pt x="4933297" y="110269"/>
                </a:cubicBezTo>
                <a:cubicBezTo>
                  <a:pt x="4947835" y="145839"/>
                  <a:pt x="4962372" y="138725"/>
                  <a:pt x="4976910" y="135168"/>
                </a:cubicBezTo>
                <a:cubicBezTo>
                  <a:pt x="5064133" y="120941"/>
                  <a:pt x="5154264" y="110269"/>
                  <a:pt x="5238580" y="71141"/>
                </a:cubicBezTo>
                <a:cubicBezTo>
                  <a:pt x="5258933" y="64027"/>
                  <a:pt x="5282192" y="64027"/>
                  <a:pt x="5290914" y="88927"/>
                </a:cubicBezTo>
                <a:cubicBezTo>
                  <a:pt x="5305452" y="124497"/>
                  <a:pt x="5285100" y="145839"/>
                  <a:pt x="5264747" y="163625"/>
                </a:cubicBezTo>
                <a:cubicBezTo>
                  <a:pt x="5229858" y="195638"/>
                  <a:pt x="5189154" y="188525"/>
                  <a:pt x="5151357" y="192082"/>
                </a:cubicBezTo>
                <a:cubicBezTo>
                  <a:pt x="5046689" y="209867"/>
                  <a:pt x="4997261" y="259665"/>
                  <a:pt x="4974002" y="373491"/>
                </a:cubicBezTo>
                <a:cubicBezTo>
                  <a:pt x="5064133" y="327250"/>
                  <a:pt x="5154264" y="384162"/>
                  <a:pt x="5241488" y="352148"/>
                </a:cubicBezTo>
                <a:cubicBezTo>
                  <a:pt x="5264747" y="345034"/>
                  <a:pt x="5299637" y="355706"/>
                  <a:pt x="5288007" y="394834"/>
                </a:cubicBezTo>
                <a:cubicBezTo>
                  <a:pt x="5276378" y="430405"/>
                  <a:pt x="5238580" y="458860"/>
                  <a:pt x="5305452" y="451747"/>
                </a:cubicBezTo>
                <a:cubicBezTo>
                  <a:pt x="5354879" y="448189"/>
                  <a:pt x="5369416" y="405504"/>
                  <a:pt x="5383953" y="359262"/>
                </a:cubicBezTo>
                <a:cubicBezTo>
                  <a:pt x="5395583" y="334364"/>
                  <a:pt x="5427565" y="320135"/>
                  <a:pt x="5450825" y="334364"/>
                </a:cubicBezTo>
                <a:cubicBezTo>
                  <a:pt x="5479899" y="348592"/>
                  <a:pt x="5471177" y="387720"/>
                  <a:pt x="5471177" y="416176"/>
                </a:cubicBezTo>
                <a:cubicBezTo>
                  <a:pt x="5474085" y="469532"/>
                  <a:pt x="5450825" y="494431"/>
                  <a:pt x="5410121" y="505101"/>
                </a:cubicBezTo>
                <a:cubicBezTo>
                  <a:pt x="5360693" y="519330"/>
                  <a:pt x="5311267" y="537116"/>
                  <a:pt x="5247303" y="558458"/>
                </a:cubicBezTo>
                <a:cubicBezTo>
                  <a:pt x="5317082" y="594028"/>
                  <a:pt x="5369416" y="586915"/>
                  <a:pt x="5421750" y="558458"/>
                </a:cubicBezTo>
                <a:cubicBezTo>
                  <a:pt x="5485714" y="526444"/>
                  <a:pt x="5570030" y="483759"/>
                  <a:pt x="5622364" y="522887"/>
                </a:cubicBezTo>
                <a:cubicBezTo>
                  <a:pt x="5700865" y="579800"/>
                  <a:pt x="5764829" y="544229"/>
                  <a:pt x="5834608" y="533558"/>
                </a:cubicBezTo>
                <a:cubicBezTo>
                  <a:pt x="5979982" y="512216"/>
                  <a:pt x="5889850" y="480203"/>
                  <a:pt x="6035223" y="462417"/>
                </a:cubicBezTo>
                <a:cubicBezTo>
                  <a:pt x="6093372" y="455303"/>
                  <a:pt x="6154429" y="426847"/>
                  <a:pt x="6238745" y="465975"/>
                </a:cubicBezTo>
                <a:cubicBezTo>
                  <a:pt x="5857868" y="672284"/>
                  <a:pt x="5677606" y="658055"/>
                  <a:pt x="5337434" y="910606"/>
                </a:cubicBezTo>
                <a:cubicBezTo>
                  <a:pt x="5351971" y="935506"/>
                  <a:pt x="5366508" y="924835"/>
                  <a:pt x="5381046" y="921277"/>
                </a:cubicBezTo>
                <a:cubicBezTo>
                  <a:pt x="5404305" y="917720"/>
                  <a:pt x="5433380" y="903491"/>
                  <a:pt x="5439195" y="949734"/>
                </a:cubicBezTo>
                <a:cubicBezTo>
                  <a:pt x="5442103" y="985305"/>
                  <a:pt x="5424657" y="1003089"/>
                  <a:pt x="5395583" y="1006647"/>
                </a:cubicBezTo>
                <a:cubicBezTo>
                  <a:pt x="5311267" y="1020875"/>
                  <a:pt x="5235673" y="1070674"/>
                  <a:pt x="5160079" y="1113358"/>
                </a:cubicBezTo>
                <a:cubicBezTo>
                  <a:pt x="5125190" y="1131144"/>
                  <a:pt x="5087393" y="1156043"/>
                  <a:pt x="5101930" y="1220069"/>
                </a:cubicBezTo>
                <a:cubicBezTo>
                  <a:pt x="5131004" y="1237855"/>
                  <a:pt x="5151357" y="1212955"/>
                  <a:pt x="5174617" y="1209399"/>
                </a:cubicBezTo>
                <a:cubicBezTo>
                  <a:pt x="5197876" y="1205842"/>
                  <a:pt x="5253118" y="1220069"/>
                  <a:pt x="5238580" y="1230741"/>
                </a:cubicBezTo>
                <a:cubicBezTo>
                  <a:pt x="5171709" y="1269868"/>
                  <a:pt x="5293822" y="1365909"/>
                  <a:pt x="5212414" y="1365909"/>
                </a:cubicBezTo>
                <a:cubicBezTo>
                  <a:pt x="5078671" y="1365909"/>
                  <a:pt x="5005984" y="1536647"/>
                  <a:pt x="4878056" y="1540204"/>
                </a:cubicBezTo>
                <a:cubicBezTo>
                  <a:pt x="4857704" y="1540204"/>
                  <a:pt x="4848982" y="1572219"/>
                  <a:pt x="4848982" y="1597117"/>
                </a:cubicBezTo>
                <a:cubicBezTo>
                  <a:pt x="4848982" y="1629132"/>
                  <a:pt x="4869333" y="1632688"/>
                  <a:pt x="4889686" y="1636245"/>
                </a:cubicBezTo>
                <a:cubicBezTo>
                  <a:pt x="4921668" y="1639802"/>
                  <a:pt x="4956557" y="1597117"/>
                  <a:pt x="4997261" y="1657587"/>
                </a:cubicBezTo>
                <a:cubicBezTo>
                  <a:pt x="4921668" y="1693158"/>
                  <a:pt x="4843167" y="1728729"/>
                  <a:pt x="4846074" y="1849668"/>
                </a:cubicBezTo>
                <a:cubicBezTo>
                  <a:pt x="4846074" y="1881683"/>
                  <a:pt x="4814092" y="1895910"/>
                  <a:pt x="4790832" y="1903025"/>
                </a:cubicBezTo>
                <a:cubicBezTo>
                  <a:pt x="4750128" y="1917252"/>
                  <a:pt x="4718146" y="1938595"/>
                  <a:pt x="4694886" y="1984836"/>
                </a:cubicBezTo>
                <a:cubicBezTo>
                  <a:pt x="4694886" y="1995507"/>
                  <a:pt x="4694886" y="2002622"/>
                  <a:pt x="4694886" y="2013292"/>
                </a:cubicBezTo>
                <a:cubicBezTo>
                  <a:pt x="4700701" y="2123562"/>
                  <a:pt x="4758850" y="2120004"/>
                  <a:pt x="4822814" y="2102219"/>
                </a:cubicBezTo>
                <a:cubicBezTo>
                  <a:pt x="4898408" y="2080877"/>
                  <a:pt x="4974002" y="2038192"/>
                  <a:pt x="5055411" y="2077320"/>
                </a:cubicBezTo>
                <a:cubicBezTo>
                  <a:pt x="4942020" y="2130676"/>
                  <a:pt x="4817000" y="2134233"/>
                  <a:pt x="4712331" y="2208931"/>
                </a:cubicBezTo>
                <a:cubicBezTo>
                  <a:pt x="5101930" y="2223159"/>
                  <a:pt x="5445010" y="1984836"/>
                  <a:pt x="5822979" y="1892353"/>
                </a:cubicBezTo>
                <a:cubicBezTo>
                  <a:pt x="5811349" y="1952823"/>
                  <a:pt x="5779367" y="1967051"/>
                  <a:pt x="5753200" y="1974165"/>
                </a:cubicBezTo>
                <a:cubicBezTo>
                  <a:pt x="5613642" y="2020407"/>
                  <a:pt x="5491529" y="2112891"/>
                  <a:pt x="5363601" y="2191146"/>
                </a:cubicBezTo>
                <a:cubicBezTo>
                  <a:pt x="5311267" y="2223159"/>
                  <a:pt x="5273470" y="2258731"/>
                  <a:pt x="5253118" y="2326314"/>
                </a:cubicBezTo>
                <a:cubicBezTo>
                  <a:pt x="5235673" y="2390340"/>
                  <a:pt x="5200783" y="2418796"/>
                  <a:pt x="5136819" y="2401012"/>
                </a:cubicBezTo>
                <a:cubicBezTo>
                  <a:pt x="5084485" y="2386784"/>
                  <a:pt x="5029243" y="2393898"/>
                  <a:pt x="4974002" y="2401012"/>
                </a:cubicBezTo>
                <a:cubicBezTo>
                  <a:pt x="4912946" y="2408126"/>
                  <a:pt x="4843167" y="2479267"/>
                  <a:pt x="4857704" y="2518395"/>
                </a:cubicBezTo>
                <a:cubicBezTo>
                  <a:pt x="4886778" y="2582422"/>
                  <a:pt x="4936205" y="2550408"/>
                  <a:pt x="4976910" y="2543294"/>
                </a:cubicBezTo>
                <a:cubicBezTo>
                  <a:pt x="5026336" y="2536181"/>
                  <a:pt x="5116467" y="2518395"/>
                  <a:pt x="5116467" y="2525509"/>
                </a:cubicBezTo>
                <a:cubicBezTo>
                  <a:pt x="5148450" y="2685576"/>
                  <a:pt x="5221136" y="2564636"/>
                  <a:pt x="5273470" y="2564636"/>
                </a:cubicBezTo>
                <a:cubicBezTo>
                  <a:pt x="5322897" y="2564636"/>
                  <a:pt x="5372323" y="2546851"/>
                  <a:pt x="5418843" y="2532623"/>
                </a:cubicBezTo>
                <a:cubicBezTo>
                  <a:pt x="5479899" y="2514837"/>
                  <a:pt x="5535140" y="2546851"/>
                  <a:pt x="5593290" y="2553965"/>
                </a:cubicBezTo>
                <a:cubicBezTo>
                  <a:pt x="5645624" y="2561080"/>
                  <a:pt x="5616550" y="2653563"/>
                  <a:pt x="5648532" y="2692689"/>
                </a:cubicBezTo>
                <a:cubicBezTo>
                  <a:pt x="5654346" y="2703362"/>
                  <a:pt x="5660161" y="2703362"/>
                  <a:pt x="5665976" y="2703362"/>
                </a:cubicBezTo>
                <a:cubicBezTo>
                  <a:pt x="5683421" y="2980812"/>
                  <a:pt x="5988704" y="2913227"/>
                  <a:pt x="5988704" y="2923898"/>
                </a:cubicBezTo>
                <a:cubicBezTo>
                  <a:pt x="6014871" y="2941684"/>
                  <a:pt x="6046853" y="2899000"/>
                  <a:pt x="6078835" y="2941684"/>
                </a:cubicBezTo>
                <a:cubicBezTo>
                  <a:pt x="5942185" y="3137322"/>
                  <a:pt x="5732847" y="3183563"/>
                  <a:pt x="5546771" y="3329402"/>
                </a:cubicBezTo>
                <a:cubicBezTo>
                  <a:pt x="5700865" y="3379202"/>
                  <a:pt x="5790997" y="3208463"/>
                  <a:pt x="5904388" y="3229805"/>
                </a:cubicBezTo>
                <a:cubicBezTo>
                  <a:pt x="5959629" y="3283162"/>
                  <a:pt x="5793904" y="3368530"/>
                  <a:pt x="5953814" y="3393429"/>
                </a:cubicBezTo>
                <a:cubicBezTo>
                  <a:pt x="5884036" y="3439672"/>
                  <a:pt x="5834608" y="3485914"/>
                  <a:pt x="5785182" y="3539269"/>
                </a:cubicBezTo>
                <a:cubicBezTo>
                  <a:pt x="5700865" y="3635309"/>
                  <a:pt x="5683421" y="3699337"/>
                  <a:pt x="5724125" y="3827390"/>
                </a:cubicBezTo>
                <a:cubicBezTo>
                  <a:pt x="5750293" y="3912759"/>
                  <a:pt x="5788089" y="3991015"/>
                  <a:pt x="5753200" y="4090612"/>
                </a:cubicBezTo>
                <a:cubicBezTo>
                  <a:pt x="5729940" y="4158196"/>
                  <a:pt x="5738663" y="4204438"/>
                  <a:pt x="5825886" y="4172424"/>
                </a:cubicBezTo>
                <a:cubicBezTo>
                  <a:pt x="5918925" y="4140411"/>
                  <a:pt x="5953814" y="4200882"/>
                  <a:pt x="5930554" y="4321821"/>
                </a:cubicBezTo>
                <a:cubicBezTo>
                  <a:pt x="5916018" y="4400076"/>
                  <a:pt x="5930554" y="4424975"/>
                  <a:pt x="5994519" y="4414305"/>
                </a:cubicBezTo>
                <a:cubicBezTo>
                  <a:pt x="6064297" y="4403633"/>
                  <a:pt x="6131169" y="4353835"/>
                  <a:pt x="6218393" y="4378734"/>
                </a:cubicBezTo>
                <a:cubicBezTo>
                  <a:pt x="6148614" y="4521016"/>
                  <a:pt x="6000333" y="4478331"/>
                  <a:pt x="5918925" y="4613499"/>
                </a:cubicBezTo>
                <a:cubicBezTo>
                  <a:pt x="6014871" y="4613499"/>
                  <a:pt x="6090465" y="4613499"/>
                  <a:pt x="6160243" y="4585042"/>
                </a:cubicBezTo>
                <a:cubicBezTo>
                  <a:pt x="6189318" y="4574373"/>
                  <a:pt x="6221300" y="4560144"/>
                  <a:pt x="6238745" y="4602828"/>
                </a:cubicBezTo>
                <a:cubicBezTo>
                  <a:pt x="6259098" y="4652628"/>
                  <a:pt x="6218393" y="4670412"/>
                  <a:pt x="6195133" y="4677526"/>
                </a:cubicBezTo>
                <a:cubicBezTo>
                  <a:pt x="6128261" y="4702425"/>
                  <a:pt x="6075928" y="4759339"/>
                  <a:pt x="6017778" y="4805580"/>
                </a:cubicBezTo>
                <a:cubicBezTo>
                  <a:pt x="5892758" y="4905177"/>
                  <a:pt x="5756107" y="4990547"/>
                  <a:pt x="5651439" y="5154171"/>
                </a:cubicBezTo>
                <a:cubicBezTo>
                  <a:pt x="5782275" y="5111487"/>
                  <a:pt x="5881128" y="5011889"/>
                  <a:pt x="6006149" y="4994104"/>
                </a:cubicBezTo>
                <a:cubicBezTo>
                  <a:pt x="5898572" y="5143500"/>
                  <a:pt x="5761922" y="5243097"/>
                  <a:pt x="5633994" y="5353367"/>
                </a:cubicBezTo>
                <a:cubicBezTo>
                  <a:pt x="5596197" y="5385379"/>
                  <a:pt x="5558400" y="5406721"/>
                  <a:pt x="5552586" y="5474306"/>
                </a:cubicBezTo>
                <a:cubicBezTo>
                  <a:pt x="5535140" y="5605917"/>
                  <a:pt x="5488622" y="5712629"/>
                  <a:pt x="5383953" y="5769542"/>
                </a:cubicBezTo>
                <a:cubicBezTo>
                  <a:pt x="5383953" y="5769542"/>
                  <a:pt x="5389768" y="5790884"/>
                  <a:pt x="5392675" y="5801555"/>
                </a:cubicBezTo>
                <a:cubicBezTo>
                  <a:pt x="5456640" y="5805112"/>
                  <a:pt x="5506066" y="5726858"/>
                  <a:pt x="5584568" y="5755314"/>
                </a:cubicBezTo>
                <a:cubicBezTo>
                  <a:pt x="5506066" y="5862025"/>
                  <a:pt x="5442103" y="5954508"/>
                  <a:pt x="5334526" y="6004307"/>
                </a:cubicBezTo>
                <a:cubicBezTo>
                  <a:pt x="5247303" y="6043434"/>
                  <a:pt x="5139727" y="6068335"/>
                  <a:pt x="5075763" y="6196388"/>
                </a:cubicBezTo>
                <a:cubicBezTo>
                  <a:pt x="5148450" y="6221287"/>
                  <a:pt x="5203691" y="6189274"/>
                  <a:pt x="5258933" y="6167932"/>
                </a:cubicBezTo>
                <a:cubicBezTo>
                  <a:pt x="5343249" y="6132361"/>
                  <a:pt x="5427565" y="6093234"/>
                  <a:pt x="5511881" y="6057663"/>
                </a:cubicBezTo>
                <a:cubicBezTo>
                  <a:pt x="5543864" y="6043434"/>
                  <a:pt x="5578753" y="6036320"/>
                  <a:pt x="5599105" y="6100347"/>
                </a:cubicBezTo>
                <a:cubicBezTo>
                  <a:pt x="5491529" y="6114575"/>
                  <a:pt x="5427565" y="6199945"/>
                  <a:pt x="5360693" y="6281757"/>
                </a:cubicBezTo>
                <a:cubicBezTo>
                  <a:pt x="5322897" y="6327999"/>
                  <a:pt x="5290914" y="6388469"/>
                  <a:pt x="5224043" y="6367127"/>
                </a:cubicBezTo>
                <a:cubicBezTo>
                  <a:pt x="5189154" y="6356456"/>
                  <a:pt x="5165894" y="6388469"/>
                  <a:pt x="5168801" y="6431153"/>
                </a:cubicBezTo>
                <a:cubicBezTo>
                  <a:pt x="5183339" y="6580550"/>
                  <a:pt x="5099022" y="6630349"/>
                  <a:pt x="5011799" y="6658805"/>
                </a:cubicBezTo>
                <a:cubicBezTo>
                  <a:pt x="4883871" y="6701489"/>
                  <a:pt x="4770480" y="6786859"/>
                  <a:pt x="4651275" y="6858000"/>
                </a:cubicBezTo>
                <a:lnTo>
                  <a:pt x="1823619" y="6858000"/>
                </a:lnTo>
                <a:lnTo>
                  <a:pt x="947849" y="6858000"/>
                </a:lnTo>
                <a:lnTo>
                  <a:pt x="732568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4" name="Title 1"/>
          <p:cNvSpPr txBox="1">
            <a:spLocks noGrp="1"/>
          </p:cNvSpPr>
          <p:nvPr>
            <p:ph type="ctrTitle"/>
          </p:nvPr>
        </p:nvSpPr>
        <p:spPr>
          <a:xfrm>
            <a:off x="207295" y="3008376"/>
            <a:ext cx="4166658" cy="253302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b="1" dirty="0"/>
              <a:t>HACCP LEVEL 2</a:t>
            </a:r>
            <a:br>
              <a:rPr lang="en-US" b="1" dirty="0"/>
            </a:br>
            <a:r>
              <a:rPr lang="en-US" b="1" dirty="0"/>
              <a:t>Training</a:t>
            </a:r>
            <a:br>
              <a:rPr lang="en-US" b="1" dirty="0"/>
            </a:br>
            <a:r>
              <a:rPr lang="en-US" b="1" dirty="0"/>
              <a:t>for </a:t>
            </a:r>
            <a:br>
              <a:rPr lang="en-US" b="1" dirty="0"/>
            </a:br>
            <a:r>
              <a:rPr lang="en-US" b="1" dirty="0"/>
              <a:t>Food Professionals  </a:t>
            </a:r>
            <a:br>
              <a:rPr lang="en-US" sz="1200" dirty="0"/>
            </a:br>
            <a:endParaRPr lang="en-US" sz="12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FCC403-C573-134E-49FA-115BA8DFE85E}"/>
              </a:ext>
            </a:extLst>
          </p:cNvPr>
          <p:cNvSpPr/>
          <p:nvPr/>
        </p:nvSpPr>
        <p:spPr>
          <a:xfrm>
            <a:off x="5517932" y="4283419"/>
            <a:ext cx="2606565" cy="1754324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Logo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6BA3D4-EDCC-F1E4-BB9C-007B3018059D}"/>
              </a:ext>
            </a:extLst>
          </p:cNvPr>
          <p:cNvSpPr/>
          <p:nvPr/>
        </p:nvSpPr>
        <p:spPr>
          <a:xfrm>
            <a:off x="5355023" y="462909"/>
            <a:ext cx="2606565" cy="1754324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Picture (food)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72440-AD6D-675F-5624-28DAB6A19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troduction…">
            <a:extLst>
              <a:ext uri="{FF2B5EF4-FFF2-40B4-BE49-F238E27FC236}">
                <a16:creationId xmlns:a16="http://schemas.microsoft.com/office/drawing/2014/main" id="{7BF1CB9C-DBA9-E734-8F37-E81B8A97A6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28600" y="781458"/>
            <a:ext cx="7671816" cy="57982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defTabSz="388620">
              <a:spcBef>
                <a:spcPts val="600"/>
              </a:spcBef>
              <a:buNone/>
              <a:defRPr sz="2720"/>
            </a:pPr>
            <a:r>
              <a:rPr lang="en-GB" sz="1800" b="1" dirty="0"/>
              <a:t>Aim: </a:t>
            </a:r>
            <a:r>
              <a:rPr lang="en-GB" sz="1800" b="1" dirty="0">
                <a:effectLst/>
                <a:ea typeface="Droid Sans Fallback"/>
                <a:cs typeface="Poppins Medium" panose="020B0604020202020204" pitchFamily="34" charset="0"/>
              </a:rPr>
              <a:t>To summarise </a:t>
            </a:r>
            <a:r>
              <a:rPr lang="en-GB" sz="1800" b="1" dirty="0">
                <a:ea typeface="Droid Sans Fallback"/>
                <a:cs typeface="Poppins Medium" panose="020B0604020202020204" pitchFamily="34" charset="0"/>
              </a:rPr>
              <a:t>HACCP system and review the CCPs concepts</a:t>
            </a:r>
          </a:p>
          <a:p>
            <a:pPr defTabSz="388620">
              <a:spcBef>
                <a:spcPts val="600"/>
              </a:spcBef>
              <a:buFont typeface="Wingdings" panose="05000000000000000000" pitchFamily="2" charset="2"/>
              <a:buChar char="Ø"/>
              <a:defRPr sz="2720"/>
            </a:pPr>
            <a:endParaRPr lang="en-GB" sz="1600" dirty="0">
              <a:ea typeface="Droid Sans Fallback"/>
              <a:cs typeface="Poppins Medium" panose="020B0604020202020204" pitchFamily="34" charset="0"/>
            </a:endParaRPr>
          </a:p>
          <a:p>
            <a:pPr defTabSz="388620">
              <a:spcBef>
                <a:spcPts val="600"/>
              </a:spcBef>
              <a:buFont typeface="Wingdings" panose="05000000000000000000" pitchFamily="2" charset="2"/>
              <a:buChar char="Ø"/>
              <a:defRPr sz="2720"/>
            </a:pPr>
            <a:r>
              <a:rPr lang="en-GB" sz="1600" b="1" dirty="0"/>
              <a:t>What will you learn today?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What is HACCP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What are the hazards in food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Regulations and Guidelines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7 Principles of HACCP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Determine CCPs</a:t>
            </a:r>
            <a:endParaRPr lang="en-GB" sz="1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Food Hazards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Importance of HACCP for your company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CCPs at Food Industry site and products examples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Food Hazards</a:t>
            </a:r>
          </a:p>
          <a:p>
            <a:pPr lvl="0" fontAlgn="base">
              <a:buFont typeface="Wingdings" panose="05000000000000000000" pitchFamily="2" charset="2"/>
              <a:buChar char="Ø"/>
            </a:pPr>
            <a:r>
              <a:rPr lang="en-US" sz="1600" dirty="0"/>
              <a:t>Prerequisite </a:t>
            </a:r>
            <a:r>
              <a:rPr lang="en-US" sz="1600" dirty="0" err="1"/>
              <a:t>Programme</a:t>
            </a:r>
            <a:endParaRPr lang="en-GB" sz="1600" dirty="0"/>
          </a:p>
          <a:p>
            <a:pPr lvl="0" fontAlgn="base">
              <a:buFont typeface="Wingdings" panose="05000000000000000000" pitchFamily="2" charset="2"/>
              <a:buChar char="Ø"/>
            </a:pPr>
            <a:r>
              <a:rPr lang="en-US" sz="1600" dirty="0"/>
              <a:t>Food Safety Attitude</a:t>
            </a:r>
            <a:endParaRPr lang="en-GB" sz="1600" dirty="0"/>
          </a:p>
          <a:p>
            <a:pPr lvl="0" fontAlgn="base">
              <a:buFont typeface="Wingdings" panose="05000000000000000000" pitchFamily="2" charset="2"/>
              <a:buChar char="Ø"/>
            </a:pPr>
            <a:r>
              <a:rPr lang="en-US" sz="1600" dirty="0"/>
              <a:t>Corrective Actions / Action Plan</a:t>
            </a:r>
            <a:endParaRPr lang="en-GB" sz="1600" dirty="0"/>
          </a:p>
          <a:p>
            <a:pPr lvl="0" fontAlgn="base">
              <a:buFont typeface="Wingdings" panose="05000000000000000000" pitchFamily="2" charset="2"/>
              <a:buChar char="Ø"/>
            </a:pPr>
            <a:r>
              <a:rPr lang="en-US" sz="1600" dirty="0"/>
              <a:t>HACCP team </a:t>
            </a:r>
            <a:endParaRPr lang="en-GB" sz="1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Responsibilities</a:t>
            </a:r>
            <a:endParaRPr lang="en-GB" sz="1600" dirty="0"/>
          </a:p>
          <a:p>
            <a:pPr defTabSz="388620">
              <a:spcBef>
                <a:spcPts val="600"/>
              </a:spcBef>
              <a:buFont typeface="Wingdings" panose="05000000000000000000" pitchFamily="2" charset="2"/>
              <a:buChar char="Ø"/>
              <a:defRPr sz="2720"/>
            </a:pPr>
            <a:endParaRPr lang="en-GB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0ED58F-A009-5D41-254D-2E7DBC3C90A4}"/>
              </a:ext>
            </a:extLst>
          </p:cNvPr>
          <p:cNvSpPr txBox="1"/>
          <p:nvPr/>
        </p:nvSpPr>
        <p:spPr>
          <a:xfrm>
            <a:off x="647113" y="196685"/>
            <a:ext cx="6772589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GB" sz="3200" b="1" dirty="0"/>
              <a:t>HACCP L2 Training</a:t>
            </a:r>
            <a:endParaRPr kumimoji="0" lang="en-US" sz="3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F10F60-9B61-87FA-F202-69947C67E172}"/>
              </a:ext>
            </a:extLst>
          </p:cNvPr>
          <p:cNvSpPr/>
          <p:nvPr/>
        </p:nvSpPr>
        <p:spPr>
          <a:xfrm>
            <a:off x="6719084" y="4400007"/>
            <a:ext cx="3006202" cy="719327"/>
          </a:xfrm>
          <a:prstGeom prst="rect">
            <a:avLst/>
          </a:prstGeom>
          <a:solidFill>
            <a:srgbClr val="72CAEE"/>
          </a:solidFill>
          <a:ln w="25400" cap="flat">
            <a:solidFill>
              <a:srgbClr val="72CAEE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E0423F-E817-A933-C2DA-ADFA0D951D92}"/>
              </a:ext>
            </a:extLst>
          </p:cNvPr>
          <p:cNvSpPr/>
          <p:nvPr/>
        </p:nvSpPr>
        <p:spPr>
          <a:xfrm>
            <a:off x="6894786" y="203341"/>
            <a:ext cx="2246711" cy="923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Logo</a:t>
            </a:r>
            <a:endParaRPr lang="en-US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3199863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BB118-4827-6259-C6DD-A5E23436A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7F288-014E-5A48-6964-953D10776AE3}"/>
              </a:ext>
            </a:extLst>
          </p:cNvPr>
          <p:cNvSpPr txBox="1"/>
          <p:nvPr/>
        </p:nvSpPr>
        <p:spPr>
          <a:xfrm>
            <a:off x="148046" y="1091875"/>
            <a:ext cx="8876622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GB" b="1" dirty="0"/>
              <a:t>Hazard Analysis Critical Control Point</a:t>
            </a:r>
            <a:r>
              <a:rPr lang="en-GB" dirty="0"/>
              <a:t> is an international</a:t>
            </a:r>
          </a:p>
          <a:p>
            <a:pPr algn="ctr"/>
            <a:r>
              <a:rPr lang="en-GB" dirty="0"/>
              <a:t> food safety management system designed to </a:t>
            </a:r>
            <a:r>
              <a:rPr lang="en-GB" b="1" dirty="0"/>
              <a:t>prevent</a:t>
            </a:r>
            <a:r>
              <a:rPr lang="en-GB" dirty="0"/>
              <a:t>, </a:t>
            </a:r>
            <a:r>
              <a:rPr lang="en-GB" b="1" dirty="0"/>
              <a:t>reduce</a:t>
            </a:r>
            <a:r>
              <a:rPr lang="en-GB" dirty="0"/>
              <a:t>, or </a:t>
            </a:r>
            <a:r>
              <a:rPr lang="en-GB" b="1" dirty="0"/>
              <a:t>eliminate</a:t>
            </a:r>
            <a:r>
              <a:rPr lang="en-GB" dirty="0"/>
              <a:t> hazards in food. Instead of relying on inspecting finished food products, HACCP aims to identify and control risks during production.</a:t>
            </a:r>
          </a:p>
          <a:p>
            <a:pPr algn="ctr"/>
            <a:endParaRPr lang="en-GB" b="1" dirty="0"/>
          </a:p>
        </p:txBody>
      </p:sp>
      <p:sp>
        <p:nvSpPr>
          <p:cNvPr id="13" name="Pentagon 12">
            <a:extLst>
              <a:ext uri="{FF2B5EF4-FFF2-40B4-BE49-F238E27FC236}">
                <a16:creationId xmlns:a16="http://schemas.microsoft.com/office/drawing/2014/main" id="{48E97E33-4B58-CA4C-D5EB-68BF48015BDE}"/>
              </a:ext>
            </a:extLst>
          </p:cNvPr>
          <p:cNvSpPr/>
          <p:nvPr/>
        </p:nvSpPr>
        <p:spPr>
          <a:xfrm rot="10800000">
            <a:off x="7780137" y="4692002"/>
            <a:ext cx="1363863" cy="664490"/>
          </a:xfrm>
          <a:prstGeom prst="homePlate">
            <a:avLst>
              <a:gd name="adj" fmla="val 51220"/>
            </a:avLst>
          </a:prstGeom>
          <a:solidFill>
            <a:srgbClr val="72CAEE"/>
          </a:solidFill>
          <a:ln w="25400" cap="flat">
            <a:solidFill>
              <a:srgbClr val="72CAEE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D0C0E-DF48-14EC-90ED-9837D1862E5D}"/>
              </a:ext>
            </a:extLst>
          </p:cNvPr>
          <p:cNvSpPr txBox="1"/>
          <p:nvPr/>
        </p:nvSpPr>
        <p:spPr>
          <a:xfrm>
            <a:off x="3147877" y="270843"/>
            <a:ext cx="2342144" cy="400108"/>
          </a:xfrm>
          <a:prstGeom prst="rect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Segoe UI" panose="020B0502040204020203" pitchFamily="34" charset="0"/>
              </a:rPr>
              <a:t>What is HACCP?</a:t>
            </a:r>
            <a:endParaRPr lang="en-US" sz="2000" b="1" i="1" dirty="0">
              <a:solidFill>
                <a:schemeClr val="tx1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5D5A52-1A87-F2B2-0652-48A4B9E00184}"/>
              </a:ext>
            </a:extLst>
          </p:cNvPr>
          <p:cNvSpPr txBox="1"/>
          <p:nvPr/>
        </p:nvSpPr>
        <p:spPr>
          <a:xfrm>
            <a:off x="366150" y="2403666"/>
            <a:ext cx="8411700" cy="37702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GB" dirty="0">
                <a:latin typeface="Google Sans"/>
              </a:rPr>
              <a:t>Under Codex guidelines, HACCP is built upon </a:t>
            </a:r>
            <a:r>
              <a:rPr lang="en-GB" b="1" dirty="0">
                <a:latin typeface="Google Sans"/>
              </a:rPr>
              <a:t>7 fundamental principles</a:t>
            </a:r>
            <a:r>
              <a:rPr lang="en-GB" dirty="0">
                <a:latin typeface="Google Sans"/>
              </a:rPr>
              <a:t> to ensure food safety management: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GB" sz="1400" b="1" u="none" strike="noStrike" dirty="0">
                <a:effectLst/>
                <a:latin typeface="Google Sans"/>
              </a:rPr>
              <a:t>Conduct a Hazard Analysis</a:t>
            </a:r>
            <a:endParaRPr lang="en-GB" sz="1400" b="1" dirty="0">
              <a:latin typeface="Google Sans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GB" sz="1400" b="1" u="none" strike="noStrike" dirty="0">
                <a:effectLst/>
                <a:latin typeface="Google Sans"/>
              </a:rPr>
              <a:t>Determine Critical Control Points (CCPs)</a:t>
            </a:r>
            <a:endParaRPr lang="en-GB" sz="1400" b="0" u="none" strike="noStrike" dirty="0">
              <a:effectLst/>
              <a:latin typeface="Google Sans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GB" sz="1400" b="1" u="none" strike="noStrike" dirty="0">
                <a:effectLst/>
                <a:latin typeface="Google Sans"/>
              </a:rPr>
              <a:t>Establish Critical Limits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GB" sz="1400" b="1" u="none" strike="noStrike" dirty="0">
                <a:effectLst/>
                <a:latin typeface="Google Sans"/>
              </a:rPr>
              <a:t>Establish Monitoring Procedures</a:t>
            </a:r>
            <a:endParaRPr lang="en-GB" sz="1400" b="0" u="none" strike="noStrike" dirty="0">
              <a:effectLst/>
              <a:latin typeface="Google Sans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GB" sz="1400" b="1" u="none" strike="noStrike" dirty="0">
                <a:effectLst/>
                <a:latin typeface="Google Sans"/>
              </a:rPr>
              <a:t>Establish Corrective Actions</a:t>
            </a:r>
            <a:endParaRPr lang="en-GB" sz="1400" b="0" u="none" strike="noStrike" dirty="0">
              <a:effectLst/>
              <a:latin typeface="Google Sans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GB" sz="1400" b="1" u="none" strike="noStrike" dirty="0">
                <a:effectLst/>
                <a:latin typeface="Google Sans"/>
              </a:rPr>
              <a:t>Establish Verification Procedures</a:t>
            </a:r>
            <a:endParaRPr lang="en-GB" sz="1400" b="0" u="none" strike="noStrike" dirty="0">
              <a:effectLst/>
              <a:latin typeface="Google Sans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GB" sz="1400" b="1" u="none" strike="noStrike" dirty="0">
                <a:effectLst/>
                <a:latin typeface="Google Sans"/>
              </a:rPr>
              <a:t>Establish Record-Keeping</a:t>
            </a:r>
            <a:endParaRPr lang="en-GB" sz="1400" b="0" u="none" strike="noStrike" dirty="0">
              <a:effectLst/>
              <a:latin typeface="Google San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D40552-2DDF-EAAE-06CA-AAA752EDD969}"/>
              </a:ext>
            </a:extLst>
          </p:cNvPr>
          <p:cNvSpPr/>
          <p:nvPr/>
        </p:nvSpPr>
        <p:spPr>
          <a:xfrm>
            <a:off x="6894786" y="203341"/>
            <a:ext cx="2246711" cy="923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Logo</a:t>
            </a:r>
            <a:endParaRPr lang="en-US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7136BD-7D4B-6D1F-C807-6B87CD2FF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357" y="3182445"/>
            <a:ext cx="2628900" cy="322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53956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09B75-DC23-F131-021C-8A98C9533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D40B98D-6704-CE4A-59BE-10FFED45D25C}"/>
              </a:ext>
            </a:extLst>
          </p:cNvPr>
          <p:cNvSpPr txBox="1"/>
          <p:nvPr/>
        </p:nvSpPr>
        <p:spPr>
          <a:xfrm>
            <a:off x="1533880" y="240867"/>
            <a:ext cx="5096859" cy="400108"/>
          </a:xfrm>
          <a:prstGeom prst="rect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lvl="0" algn="ctr"/>
            <a:r>
              <a:rPr lang="en-GB" sz="2000" b="1" dirty="0">
                <a:solidFill>
                  <a:schemeClr val="tx1"/>
                </a:solidFill>
                <a:ea typeface="Droid Sans Fallback"/>
                <a:cs typeface="Poppins Medium" panose="020B0604020202020204" pitchFamily="34" charset="0"/>
              </a:rPr>
              <a:t>Where does HACCP come from? </a:t>
            </a:r>
            <a:endParaRPr lang="en-GB" sz="2000" b="1" dirty="0">
              <a:solidFill>
                <a:schemeClr val="tx1"/>
              </a:solidFill>
              <a:effectLst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13" name="Pentagon 12">
            <a:extLst>
              <a:ext uri="{FF2B5EF4-FFF2-40B4-BE49-F238E27FC236}">
                <a16:creationId xmlns:a16="http://schemas.microsoft.com/office/drawing/2014/main" id="{BB7CD3B3-127C-A95E-39A3-2D89F5FD9342}"/>
              </a:ext>
            </a:extLst>
          </p:cNvPr>
          <p:cNvSpPr/>
          <p:nvPr/>
        </p:nvSpPr>
        <p:spPr>
          <a:xfrm rot="5400000">
            <a:off x="-269259" y="205004"/>
            <a:ext cx="1363863" cy="664490"/>
          </a:xfrm>
          <a:prstGeom prst="homePlate">
            <a:avLst>
              <a:gd name="adj" fmla="val 51220"/>
            </a:avLst>
          </a:prstGeom>
          <a:solidFill>
            <a:srgbClr val="72CAEE"/>
          </a:solidFill>
          <a:ln w="25400" cap="flat">
            <a:solidFill>
              <a:srgbClr val="72CAEE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6949D3-C4FB-5A79-3D8E-9480620EAB75}"/>
              </a:ext>
            </a:extLst>
          </p:cNvPr>
          <p:cNvSpPr txBox="1"/>
          <p:nvPr/>
        </p:nvSpPr>
        <p:spPr>
          <a:xfrm>
            <a:off x="0" y="1219181"/>
            <a:ext cx="9144000" cy="129586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dirty="0"/>
              <a:t>HACCP was originated in the 1960s through a collaboration between NASA, the </a:t>
            </a:r>
            <a:r>
              <a:rPr lang="en-GB" b="1" dirty="0"/>
              <a:t>U.S. Army Laboratories</a:t>
            </a:r>
            <a:r>
              <a:rPr lang="en-GB" dirty="0"/>
              <a:t>, and the </a:t>
            </a:r>
            <a:r>
              <a:rPr lang="en-GB" b="1" dirty="0"/>
              <a:t>Pillsbury Company</a:t>
            </a:r>
            <a:r>
              <a:rPr lang="en-GB" dirty="0"/>
              <a:t>. It was originally designed to guarantee 100% safe, crumb-free, and pathogen-free food for astronauts on early space missions.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0535AD-4D69-C541-6D27-3A3EB18E74DB}"/>
              </a:ext>
            </a:extLst>
          </p:cNvPr>
          <p:cNvSpPr txBox="1"/>
          <p:nvPr/>
        </p:nvSpPr>
        <p:spPr>
          <a:xfrm>
            <a:off x="186965" y="3093255"/>
            <a:ext cx="8770069" cy="2308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GB" b="1" u="none" strike="noStrike" dirty="0">
                <a:effectLst/>
                <a:latin typeface="Google Sans"/>
              </a:rPr>
              <a:t>1970s:</a:t>
            </a:r>
            <a:r>
              <a:rPr lang="en-GB" b="0" u="none" strike="noStrike" dirty="0">
                <a:effectLst/>
                <a:latin typeface="Google Sans"/>
              </a:rPr>
              <a:t> The U.S. Food and Drug Administration (FDA) adopted HACCP principles for commercial canned food manufacturing.</a:t>
            </a:r>
          </a:p>
          <a:p>
            <a:endParaRPr lang="en-GB" dirty="0">
              <a:latin typeface="Google Sans"/>
            </a:endParaRPr>
          </a:p>
          <a:p>
            <a:r>
              <a:rPr lang="en-GB" b="1" u="none" strike="noStrike" dirty="0">
                <a:effectLst/>
                <a:latin typeface="Google Sans"/>
              </a:rPr>
              <a:t>1990s:</a:t>
            </a:r>
            <a:r>
              <a:rPr lang="en-GB" b="0" u="none" strike="noStrike" dirty="0">
                <a:effectLst/>
                <a:latin typeface="Google Sans"/>
              </a:rPr>
              <a:t> International organisations, including the </a:t>
            </a:r>
            <a:r>
              <a:rPr lang="en-GB" b="0" u="none" strike="noStrike" dirty="0">
                <a:effectLst/>
                <a:latin typeface="Google Sans"/>
                <a:hlinkClick r:id="rId2"/>
              </a:rPr>
              <a:t>Codex Alimentarius Commission</a:t>
            </a:r>
            <a:r>
              <a:rPr lang="en-GB" b="0" u="none" strike="noStrike" dirty="0">
                <a:effectLst/>
                <a:latin typeface="Google Sans"/>
              </a:rPr>
              <a:t>, adopted HACCP guidelines.</a:t>
            </a:r>
          </a:p>
          <a:p>
            <a:endParaRPr lang="en-GB" b="0" u="none" strike="noStrike" dirty="0">
              <a:effectLst/>
              <a:latin typeface="Google Sans"/>
            </a:endParaRPr>
          </a:p>
          <a:p>
            <a:r>
              <a:rPr lang="en-GB" b="1" u="none" strike="noStrike" dirty="0">
                <a:effectLst/>
                <a:latin typeface="Google Sans"/>
              </a:rPr>
              <a:t>2000s:</a:t>
            </a:r>
            <a:r>
              <a:rPr lang="en-GB" b="0" u="none" strike="noStrike" dirty="0">
                <a:effectLst/>
                <a:latin typeface="Google Sans"/>
              </a:rPr>
              <a:t> HACCP became a strict, legally mandated requirement across many regions (including the UK, through </a:t>
            </a:r>
            <a:r>
              <a:rPr lang="en-GB" b="0" u="sng" strike="noStrike" dirty="0">
                <a:effectLst/>
                <a:latin typeface="Google Sans"/>
                <a:hlinkClick r:id="rId3"/>
              </a:rPr>
              <a:t>Regulation (EC) 852/2004</a:t>
            </a:r>
            <a:r>
              <a:rPr lang="en-GB" b="0" u="none" strike="noStrike" dirty="0">
                <a:effectLst/>
                <a:latin typeface="Google Sans"/>
              </a:rPr>
              <a:t>)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225751-1894-DFB5-5C77-4CBAC03F91A6}"/>
              </a:ext>
            </a:extLst>
          </p:cNvPr>
          <p:cNvSpPr/>
          <p:nvPr/>
        </p:nvSpPr>
        <p:spPr>
          <a:xfrm>
            <a:off x="6894786" y="203341"/>
            <a:ext cx="2246711" cy="923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Logo</a:t>
            </a:r>
            <a:endParaRPr lang="en-US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9271469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3E1AA-DCD0-6A79-998C-1D191054C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entagon 12">
            <a:extLst>
              <a:ext uri="{FF2B5EF4-FFF2-40B4-BE49-F238E27FC236}">
                <a16:creationId xmlns:a16="http://schemas.microsoft.com/office/drawing/2014/main" id="{FB81FC42-45CC-99DC-EA34-A337CDC2655B}"/>
              </a:ext>
            </a:extLst>
          </p:cNvPr>
          <p:cNvSpPr/>
          <p:nvPr/>
        </p:nvSpPr>
        <p:spPr>
          <a:xfrm rot="5400000">
            <a:off x="-269259" y="205004"/>
            <a:ext cx="1363863" cy="664490"/>
          </a:xfrm>
          <a:prstGeom prst="homePlate">
            <a:avLst>
              <a:gd name="adj" fmla="val 51220"/>
            </a:avLst>
          </a:prstGeom>
          <a:solidFill>
            <a:srgbClr val="72CAEE"/>
          </a:solidFill>
          <a:ln w="25400" cap="flat">
            <a:solidFill>
              <a:srgbClr val="72CAEE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A0BC9B-5A6D-F485-B5D5-DA9128DB7C39}"/>
              </a:ext>
            </a:extLst>
          </p:cNvPr>
          <p:cNvSpPr txBox="1"/>
          <p:nvPr/>
        </p:nvSpPr>
        <p:spPr>
          <a:xfrm>
            <a:off x="2166623" y="337195"/>
            <a:ext cx="4099194" cy="400108"/>
          </a:xfrm>
          <a:prstGeom prst="rect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Segoe UI" panose="020B0502040204020203" pitchFamily="34" charset="0"/>
              </a:rPr>
              <a:t>What are the hazards in food?  </a:t>
            </a:r>
            <a:endParaRPr lang="en-US" sz="2000" b="1" i="1" dirty="0">
              <a:solidFill>
                <a:schemeClr val="tx1"/>
              </a:solidFill>
              <a:latin typeface="Segoe UI" panose="020B0502040204020203" pitchFamily="34" charset="0"/>
            </a:endParaRPr>
          </a:p>
        </p:txBody>
      </p:sp>
      <p:graphicFrame>
        <p:nvGraphicFramePr>
          <p:cNvPr id="19" name="TextBox 5">
            <a:extLst>
              <a:ext uri="{FF2B5EF4-FFF2-40B4-BE49-F238E27FC236}">
                <a16:creationId xmlns:a16="http://schemas.microsoft.com/office/drawing/2014/main" id="{35723EA1-A755-AC59-0DAE-888E880348CC}"/>
              </a:ext>
            </a:extLst>
          </p:cNvPr>
          <p:cNvGraphicFramePr/>
          <p:nvPr/>
        </p:nvGraphicFramePr>
        <p:xfrm>
          <a:off x="99879" y="1702663"/>
          <a:ext cx="8944241" cy="3787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1F39FB69-0E36-3F37-2018-D151D304EDEF}"/>
              </a:ext>
            </a:extLst>
          </p:cNvPr>
          <p:cNvSpPr/>
          <p:nvPr/>
        </p:nvSpPr>
        <p:spPr>
          <a:xfrm>
            <a:off x="6894786" y="203341"/>
            <a:ext cx="2246711" cy="923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Logo</a:t>
            </a:r>
            <a:endParaRPr lang="en-US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5167813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4B8C-E23E-A884-79B6-C9E47D9FA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D8B966D-EECB-5819-34E4-D7B7C5AA2BF5}"/>
              </a:ext>
            </a:extLst>
          </p:cNvPr>
          <p:cNvSpPr txBox="1"/>
          <p:nvPr/>
        </p:nvSpPr>
        <p:spPr>
          <a:xfrm>
            <a:off x="1533880" y="240867"/>
            <a:ext cx="5096859" cy="400108"/>
          </a:xfrm>
          <a:prstGeom prst="rect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lvl="0" algn="ctr"/>
            <a:r>
              <a:rPr lang="en-GB" sz="2000" b="1" dirty="0">
                <a:solidFill>
                  <a:schemeClr val="tx1"/>
                </a:solidFill>
                <a:effectLst/>
                <a:ea typeface="Droid Sans Fallback"/>
                <a:cs typeface="Poppins Medium" panose="020B0604020202020204" pitchFamily="34" charset="0"/>
              </a:rPr>
              <a:t>Regulations</a:t>
            </a:r>
            <a:r>
              <a:rPr lang="en-GB" sz="2000" b="1" dirty="0">
                <a:solidFill>
                  <a:schemeClr val="tx1"/>
                </a:solidFill>
                <a:ea typeface="Droid Sans Fallback"/>
                <a:cs typeface="Poppins Medium" panose="020B0604020202020204" pitchFamily="34" charset="0"/>
              </a:rPr>
              <a:t> </a:t>
            </a:r>
            <a:endParaRPr lang="en-GB" sz="2000" b="1" dirty="0">
              <a:solidFill>
                <a:schemeClr val="tx1"/>
              </a:solidFill>
              <a:effectLst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13" name="Pentagon 12">
            <a:extLst>
              <a:ext uri="{FF2B5EF4-FFF2-40B4-BE49-F238E27FC236}">
                <a16:creationId xmlns:a16="http://schemas.microsoft.com/office/drawing/2014/main" id="{80C2565B-222B-A901-D97C-39A9C732B772}"/>
              </a:ext>
            </a:extLst>
          </p:cNvPr>
          <p:cNvSpPr/>
          <p:nvPr/>
        </p:nvSpPr>
        <p:spPr>
          <a:xfrm rot="5400000">
            <a:off x="-269259" y="205004"/>
            <a:ext cx="1363863" cy="664490"/>
          </a:xfrm>
          <a:prstGeom prst="homePlate">
            <a:avLst>
              <a:gd name="adj" fmla="val 51220"/>
            </a:avLst>
          </a:prstGeom>
          <a:solidFill>
            <a:srgbClr val="72CAEE"/>
          </a:solidFill>
          <a:ln w="25400" cap="flat">
            <a:solidFill>
              <a:srgbClr val="72CAEE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F24AE6-22AD-F34D-A41E-C16EA45DB8BA}"/>
              </a:ext>
            </a:extLst>
          </p:cNvPr>
          <p:cNvSpPr txBox="1"/>
          <p:nvPr/>
        </p:nvSpPr>
        <p:spPr>
          <a:xfrm>
            <a:off x="80427" y="3782524"/>
            <a:ext cx="8865326" cy="28623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GB" dirty="0"/>
              <a:t>While Codex defines </a:t>
            </a:r>
            <a:r>
              <a:rPr lang="en-GB" b="1" i="1" dirty="0">
                <a:latin typeface="Google Sans"/>
              </a:rPr>
              <a:t>what</a:t>
            </a:r>
            <a:r>
              <a:rPr lang="en-GB" dirty="0"/>
              <a:t> the general requirements are, HACCP acts as the practical </a:t>
            </a:r>
            <a:r>
              <a:rPr lang="en-GB" b="1" i="1" dirty="0">
                <a:latin typeface="Google Sans"/>
              </a:rPr>
              <a:t>how</a:t>
            </a:r>
            <a:r>
              <a:rPr lang="en-GB" i="1" dirty="0">
                <a:latin typeface="Google Sans"/>
              </a:rPr>
              <a:t>-to</a:t>
            </a:r>
            <a:r>
              <a:rPr lang="en-GB" dirty="0"/>
              <a:t> framework to identify, evaluate, and control food safety hazards</a:t>
            </a:r>
          </a:p>
          <a:p>
            <a:pPr algn="ctr"/>
            <a:endParaRPr lang="en-GB" b="0" i="0" dirty="0">
              <a:solidFill>
                <a:srgbClr val="27394E"/>
              </a:solidFill>
              <a:effectLst/>
              <a:latin typeface="Source Sans 3"/>
            </a:endParaRPr>
          </a:p>
          <a:p>
            <a:pPr algn="ctr"/>
            <a:endParaRPr lang="en-GB" dirty="0">
              <a:solidFill>
                <a:srgbClr val="27394E"/>
              </a:solidFill>
              <a:latin typeface="Source Sans 3"/>
            </a:endParaRPr>
          </a:p>
          <a:p>
            <a:pPr algn="ctr"/>
            <a:r>
              <a:rPr lang="en-GB" b="0" i="0" dirty="0">
                <a:solidFill>
                  <a:srgbClr val="27394E"/>
                </a:solidFill>
                <a:effectLst/>
                <a:latin typeface="Source Sans 3"/>
              </a:rPr>
              <a:t>HACCP was introduced by </a:t>
            </a:r>
            <a:r>
              <a:rPr lang="en-GB" b="1" i="0" dirty="0">
                <a:solidFill>
                  <a:srgbClr val="111827"/>
                </a:solidFill>
                <a:effectLst/>
                <a:latin typeface="Source Sans 3"/>
              </a:rPr>
              <a:t>Regulation (EC) No 852/2004</a:t>
            </a:r>
            <a:r>
              <a:rPr lang="en-GB" b="0" i="0" dirty="0">
                <a:solidFill>
                  <a:srgbClr val="27394E"/>
                </a:solidFill>
                <a:effectLst/>
                <a:latin typeface="Source Sans 3"/>
              </a:rPr>
              <a:t> on food hygiene. This law made HACCP-based procedures mandatory for food businesses in the UK.</a:t>
            </a:r>
          </a:p>
          <a:p>
            <a:pPr algn="ctr"/>
            <a:endParaRPr lang="en-GB" dirty="0">
              <a:solidFill>
                <a:srgbClr val="27394E"/>
              </a:solidFill>
              <a:latin typeface="Source Sans 3"/>
            </a:endParaRP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EHO (Environmental Health Officer) can fine the business or shut the company down if the HACCP plan is not implemented. </a:t>
            </a:r>
          </a:p>
          <a:p>
            <a:pPr algn="ctr"/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BCF2E5-241D-A831-8B18-C2876FFED552}"/>
              </a:ext>
            </a:extLst>
          </p:cNvPr>
          <p:cNvSpPr txBox="1"/>
          <p:nvPr/>
        </p:nvSpPr>
        <p:spPr>
          <a:xfrm>
            <a:off x="0" y="1644315"/>
            <a:ext cx="9144000" cy="2031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GB" dirty="0"/>
              <a:t>The </a:t>
            </a:r>
            <a:r>
              <a:rPr lang="en-GB" b="1" dirty="0"/>
              <a:t>Codex Alimentarius</a:t>
            </a:r>
            <a:r>
              <a:rPr lang="en-GB" dirty="0"/>
              <a:t> (Latin for "Food Code") is a collection of internationally recognised food standards, guidelines, and codes of practice established by the FAO and WHO. </a:t>
            </a:r>
          </a:p>
          <a:p>
            <a:pPr algn="ctr"/>
            <a:endParaRPr lang="en-GB" b="1" dirty="0"/>
          </a:p>
          <a:p>
            <a:pPr algn="ctr"/>
            <a:endParaRPr lang="en-GB" b="1" dirty="0"/>
          </a:p>
          <a:p>
            <a:pPr algn="ctr"/>
            <a:r>
              <a:rPr lang="en-GB" b="1" dirty="0"/>
              <a:t>Codex Alimentarius</a:t>
            </a:r>
            <a:r>
              <a:rPr lang="en-GB" dirty="0"/>
              <a:t> establishes the baseline food hygiene and safety standards that nations adopt to protect consumers and facilitate fair trade. As part of these standards, Codex mandates that food businesses implement a </a:t>
            </a:r>
            <a:r>
              <a:rPr lang="en-GB" b="1" u="none" strike="noStrike" dirty="0">
                <a:effectLst/>
                <a:latin typeface="Google Sans"/>
              </a:rPr>
              <a:t>HACCP-based system</a:t>
            </a:r>
            <a:r>
              <a:rPr lang="en-GB" dirty="0"/>
              <a:t>.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C20CCA-9987-FDCE-0222-862AAEC85C8C}"/>
              </a:ext>
            </a:extLst>
          </p:cNvPr>
          <p:cNvSpPr/>
          <p:nvPr/>
        </p:nvSpPr>
        <p:spPr>
          <a:xfrm>
            <a:off x="6894786" y="203341"/>
            <a:ext cx="2246711" cy="923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Logo</a:t>
            </a:r>
            <a:endParaRPr lang="en-US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2158978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C4A8F-9645-1719-4996-CC8D3C779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entagon 12">
            <a:extLst>
              <a:ext uri="{FF2B5EF4-FFF2-40B4-BE49-F238E27FC236}">
                <a16:creationId xmlns:a16="http://schemas.microsoft.com/office/drawing/2014/main" id="{83A53BF4-8A76-7ADA-15B6-246D66CC9A00}"/>
              </a:ext>
            </a:extLst>
          </p:cNvPr>
          <p:cNvSpPr/>
          <p:nvPr/>
        </p:nvSpPr>
        <p:spPr>
          <a:xfrm rot="5400000">
            <a:off x="-238874" y="32855"/>
            <a:ext cx="1363863" cy="664490"/>
          </a:xfrm>
          <a:prstGeom prst="homePlate">
            <a:avLst>
              <a:gd name="adj" fmla="val 51220"/>
            </a:avLst>
          </a:prstGeom>
          <a:solidFill>
            <a:srgbClr val="72CAEE"/>
          </a:solidFill>
          <a:ln w="25400" cap="flat">
            <a:solidFill>
              <a:srgbClr val="72CAEE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E8E37A-7C2B-A908-0640-9ED969EBE282}"/>
              </a:ext>
            </a:extLst>
          </p:cNvPr>
          <p:cNvSpPr txBox="1"/>
          <p:nvPr/>
        </p:nvSpPr>
        <p:spPr>
          <a:xfrm>
            <a:off x="2491185" y="337195"/>
            <a:ext cx="3182250" cy="400108"/>
          </a:xfrm>
          <a:prstGeom prst="rect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Segoe UI" panose="020B0502040204020203" pitchFamily="34" charset="0"/>
              </a:rPr>
              <a:t>The 7 HACCP Principles</a:t>
            </a:r>
            <a:endParaRPr lang="en-US" sz="2000" b="1" i="1" dirty="0">
              <a:solidFill>
                <a:schemeClr val="tx1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09902F-27F5-0A4A-6D1A-60162AC851E1}"/>
              </a:ext>
            </a:extLst>
          </p:cNvPr>
          <p:cNvSpPr txBox="1"/>
          <p:nvPr/>
        </p:nvSpPr>
        <p:spPr>
          <a:xfrm>
            <a:off x="80427" y="1105150"/>
            <a:ext cx="4572000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GB" b="1" u="none" strike="noStrike" dirty="0">
                <a:effectLst/>
                <a:latin typeface="Google Sans"/>
              </a:rPr>
              <a:t>Conduct a Hazard Analysis:</a:t>
            </a:r>
            <a:r>
              <a:rPr lang="en-GB" b="0" u="none" strike="noStrike" dirty="0">
                <a:effectLst/>
                <a:latin typeface="Google Sans"/>
              </a:rPr>
              <a:t> Identify biological, chemical, or physical hazards that could make food unsafe.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1D9A21-3053-5641-B39B-8A0FB77F96E1}"/>
              </a:ext>
            </a:extLst>
          </p:cNvPr>
          <p:cNvSpPr txBox="1"/>
          <p:nvPr/>
        </p:nvSpPr>
        <p:spPr>
          <a:xfrm>
            <a:off x="4107849" y="1767273"/>
            <a:ext cx="4916819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>
              <a:spcBef>
                <a:spcPts val="900"/>
              </a:spcBef>
              <a:spcAft>
                <a:spcPts val="900"/>
              </a:spcAft>
            </a:pPr>
            <a:r>
              <a:rPr lang="en-GB" b="1" u="none" strike="noStrike" dirty="0">
                <a:effectLst/>
                <a:latin typeface="Google Sans"/>
              </a:rPr>
              <a:t>2. </a:t>
            </a:r>
            <a:r>
              <a:rPr lang="en-GB" b="1" u="none" strike="noStrike" dirty="0">
                <a:solidFill>
                  <a:srgbClr val="FE0000"/>
                </a:solidFill>
                <a:effectLst/>
                <a:latin typeface="Google Sans"/>
              </a:rPr>
              <a:t>Determine Critical Control Points (CCPs):</a:t>
            </a:r>
            <a:r>
              <a:rPr lang="en-GB" b="0" u="none" strike="noStrike" dirty="0">
                <a:solidFill>
                  <a:srgbClr val="FE0000"/>
                </a:solidFill>
                <a:effectLst/>
                <a:latin typeface="Google Sans"/>
              </a:rPr>
              <a:t> </a:t>
            </a:r>
            <a:r>
              <a:rPr lang="en-GB" b="0" u="none" strike="noStrike" dirty="0">
                <a:effectLst/>
                <a:latin typeface="Google Sans"/>
              </a:rPr>
              <a:t>Locate the specific steps in the process where controls can be applied to prevent or eliminate hazards.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D77743-4A13-A4E0-6FE9-6C078C979712}"/>
              </a:ext>
            </a:extLst>
          </p:cNvPr>
          <p:cNvSpPr txBox="1"/>
          <p:nvPr/>
        </p:nvSpPr>
        <p:spPr>
          <a:xfrm>
            <a:off x="59835" y="2700783"/>
            <a:ext cx="4572000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>
              <a:spcBef>
                <a:spcPts val="900"/>
              </a:spcBef>
              <a:spcAft>
                <a:spcPts val="900"/>
              </a:spcAft>
            </a:pPr>
            <a:r>
              <a:rPr lang="en-GB" b="1" u="none" strike="noStrike" dirty="0">
                <a:effectLst/>
                <a:latin typeface="Google Sans"/>
              </a:rPr>
              <a:t>3. Establish Critical Limits:</a:t>
            </a:r>
            <a:r>
              <a:rPr lang="en-GB" b="0" u="none" strike="noStrike" dirty="0">
                <a:effectLst/>
                <a:latin typeface="Google Sans"/>
              </a:rPr>
              <a:t> Set maximum or minimum values (e.g., temperatures, cooking times) that must be met to ensure the CCP is under control.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6BFCA2-3FFF-CC0D-33D1-9BBB7F1B9B00}"/>
              </a:ext>
            </a:extLst>
          </p:cNvPr>
          <p:cNvSpPr txBox="1"/>
          <p:nvPr/>
        </p:nvSpPr>
        <p:spPr>
          <a:xfrm>
            <a:off x="4452668" y="3541144"/>
            <a:ext cx="4572000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>
              <a:spcBef>
                <a:spcPts val="900"/>
              </a:spcBef>
              <a:spcAft>
                <a:spcPts val="900"/>
              </a:spcAft>
            </a:pPr>
            <a:r>
              <a:rPr lang="en-GB" b="1" u="none" strike="noStrike" dirty="0">
                <a:effectLst/>
                <a:latin typeface="Google Sans"/>
              </a:rPr>
              <a:t>4. Establish Monitoring Procedures:</a:t>
            </a:r>
            <a:r>
              <a:rPr lang="en-GB" b="0" u="none" strike="noStrike" dirty="0">
                <a:effectLst/>
                <a:latin typeface="Google Sans"/>
              </a:rPr>
              <a:t> Create systematic testing or observations to ensure a </a:t>
            </a:r>
            <a:r>
              <a:rPr lang="en-GB" b="1" u="none" strike="noStrike" dirty="0">
                <a:solidFill>
                  <a:srgbClr val="FE0000"/>
                </a:solidFill>
                <a:effectLst/>
                <a:latin typeface="Google Sans"/>
              </a:rPr>
              <a:t>CCP remains within its critical limits.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DE2C56-59C6-103A-A1AF-88E1273691C0}"/>
              </a:ext>
            </a:extLst>
          </p:cNvPr>
          <p:cNvSpPr txBox="1"/>
          <p:nvPr/>
        </p:nvSpPr>
        <p:spPr>
          <a:xfrm>
            <a:off x="119332" y="4449894"/>
            <a:ext cx="4572000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>
              <a:spcBef>
                <a:spcPts val="900"/>
              </a:spcBef>
              <a:spcAft>
                <a:spcPts val="900"/>
              </a:spcAft>
            </a:pPr>
            <a:r>
              <a:rPr lang="en-GB" b="1" u="none" strike="noStrike" dirty="0">
                <a:effectLst/>
                <a:latin typeface="Google Sans"/>
              </a:rPr>
              <a:t>5. Establish Corrective Actions:</a:t>
            </a:r>
            <a:r>
              <a:rPr lang="en-GB" b="0" u="none" strike="noStrike" dirty="0">
                <a:effectLst/>
                <a:latin typeface="Google Sans"/>
              </a:rPr>
              <a:t> Define the specific steps taken when monitoring shows a CCP is deviating from its critical limits.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65578A-561D-A147-9996-06BBF49B03C7}"/>
              </a:ext>
            </a:extLst>
          </p:cNvPr>
          <p:cNvSpPr txBox="1"/>
          <p:nvPr/>
        </p:nvSpPr>
        <p:spPr>
          <a:xfrm>
            <a:off x="4452668" y="5090727"/>
            <a:ext cx="4572000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>
              <a:spcBef>
                <a:spcPts val="900"/>
              </a:spcBef>
              <a:spcAft>
                <a:spcPts val="900"/>
              </a:spcAft>
            </a:pPr>
            <a:r>
              <a:rPr lang="en-GB" b="1" u="none" strike="noStrike" dirty="0">
                <a:effectLst/>
                <a:latin typeface="Google Sans"/>
              </a:rPr>
              <a:t>6. Establish Verification Procedures:</a:t>
            </a:r>
            <a:r>
              <a:rPr lang="en-GB" b="0" u="none" strike="noStrike" dirty="0">
                <a:effectLst/>
                <a:latin typeface="Google Sans"/>
              </a:rPr>
              <a:t> Apply tests, audits, and evaluations to confirm the HACCP system is working effectively.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E9FF9E-3A39-2667-4984-8738A303E3F6}"/>
              </a:ext>
            </a:extLst>
          </p:cNvPr>
          <p:cNvSpPr txBox="1"/>
          <p:nvPr/>
        </p:nvSpPr>
        <p:spPr>
          <a:xfrm>
            <a:off x="119332" y="5934670"/>
            <a:ext cx="4572000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>
              <a:spcBef>
                <a:spcPts val="900"/>
              </a:spcBef>
              <a:spcAft>
                <a:spcPts val="900"/>
              </a:spcAft>
            </a:pPr>
            <a:r>
              <a:rPr lang="en-GB" b="1" u="none" strike="noStrike" dirty="0">
                <a:effectLst/>
                <a:latin typeface="Google Sans"/>
              </a:rPr>
              <a:t>7. Establish Record-Keeping:</a:t>
            </a:r>
            <a:r>
              <a:rPr lang="en-GB" b="0" u="none" strike="noStrike" dirty="0">
                <a:effectLst/>
                <a:latin typeface="Google Sans"/>
              </a:rPr>
              <a:t> Maintain logs, charts, and documents necessary to prove that safety controls were executed correctly.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E81BA1-D0B2-2781-A390-218193877D20}"/>
              </a:ext>
            </a:extLst>
          </p:cNvPr>
          <p:cNvSpPr/>
          <p:nvPr/>
        </p:nvSpPr>
        <p:spPr>
          <a:xfrm>
            <a:off x="6894786" y="203341"/>
            <a:ext cx="2246711" cy="923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Logo</a:t>
            </a:r>
            <a:endParaRPr lang="en-US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7319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25AD8-A6FB-68F7-0AB7-D218BBBFF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18B3EB-53C1-218B-F2C1-25CB47975744}"/>
              </a:ext>
            </a:extLst>
          </p:cNvPr>
          <p:cNvSpPr/>
          <p:nvPr/>
        </p:nvSpPr>
        <p:spPr>
          <a:xfrm>
            <a:off x="0" y="6563730"/>
            <a:ext cx="9144000" cy="719327"/>
          </a:xfrm>
          <a:prstGeom prst="rect">
            <a:avLst/>
          </a:prstGeom>
          <a:solidFill>
            <a:srgbClr val="72CAEE"/>
          </a:solidFill>
          <a:ln w="25400" cap="flat">
            <a:solidFill>
              <a:srgbClr val="72CAEE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7F4675-8F01-D019-2253-8478420F8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06651" y="3045401"/>
            <a:ext cx="3436892" cy="45029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0B1CFC-2BBC-E4BB-E612-359C830E3DC6}"/>
              </a:ext>
            </a:extLst>
          </p:cNvPr>
          <p:cNvSpPr txBox="1"/>
          <p:nvPr/>
        </p:nvSpPr>
        <p:spPr>
          <a:xfrm>
            <a:off x="1680755" y="302361"/>
            <a:ext cx="4445526" cy="400108"/>
          </a:xfrm>
          <a:prstGeom prst="rect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GB" sz="2000" b="1" dirty="0">
                <a:solidFill>
                  <a:schemeClr val="tx1"/>
                </a:solidFill>
                <a:latin typeface="Google Sans"/>
              </a:rPr>
              <a:t>Determine Critical Control Points (CCPs)</a:t>
            </a:r>
            <a:endParaRPr lang="en-US" sz="2000" b="1" i="1" dirty="0">
              <a:solidFill>
                <a:schemeClr val="tx1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BF6BE3-9115-D54E-C2DB-61694763C029}"/>
              </a:ext>
            </a:extLst>
          </p:cNvPr>
          <p:cNvSpPr txBox="1"/>
          <p:nvPr/>
        </p:nvSpPr>
        <p:spPr>
          <a:xfrm>
            <a:off x="200297" y="1302764"/>
            <a:ext cx="7741920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en-GB" dirty="0">
                <a:latin typeface="Google Sans"/>
              </a:rPr>
              <a:t>The</a:t>
            </a:r>
            <a:r>
              <a:rPr lang="en-GB" b="1" u="none" strike="noStrike" dirty="0">
                <a:effectLst/>
                <a:latin typeface="Google Sans"/>
              </a:rPr>
              <a:t> second principle of the HACCP</a:t>
            </a:r>
            <a:r>
              <a:rPr lang="en-GB" b="0" u="none" strike="noStrike" dirty="0">
                <a:effectLst/>
                <a:latin typeface="Google Sans"/>
              </a:rPr>
              <a:t> system. It identifies the specific steps in a process where a control measure can be applied to </a:t>
            </a:r>
            <a:r>
              <a:rPr lang="en-GB" b="1" u="none" strike="noStrike" dirty="0">
                <a:effectLst/>
                <a:latin typeface="Google Sans"/>
              </a:rPr>
              <a:t>prevent, eliminate, or reduce </a:t>
            </a:r>
            <a:r>
              <a:rPr lang="en-GB" b="0" u="none" strike="noStrike" dirty="0">
                <a:effectLst/>
                <a:latin typeface="Google Sans"/>
              </a:rPr>
              <a:t>significant safety hazards to acceptable levels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128396-63E1-8C8A-1D59-49D005C5F0F5}"/>
              </a:ext>
            </a:extLst>
          </p:cNvPr>
          <p:cNvSpPr txBox="1"/>
          <p:nvPr/>
        </p:nvSpPr>
        <p:spPr>
          <a:xfrm>
            <a:off x="2744564" y="2937004"/>
            <a:ext cx="6085113" cy="3139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en-GB" dirty="0"/>
              <a:t>This step requires a systematic approach, often utilising expert knowledge and a structured decision tree. The standard method relies on the following steps:</a:t>
            </a:r>
          </a:p>
          <a:p>
            <a:pPr algn="just"/>
            <a:endParaRPr lang="en-GB" dirty="0"/>
          </a:p>
          <a:p>
            <a:pPr marL="342900" indent="-342900" algn="just">
              <a:buAutoNum type="arabicPeriod"/>
            </a:pPr>
            <a:r>
              <a:rPr lang="en-GB" dirty="0"/>
              <a:t>Design a processing flow</a:t>
            </a:r>
          </a:p>
          <a:p>
            <a:pPr marL="342900" indent="-342900" algn="just">
              <a:buAutoNum type="arabicPeriod"/>
            </a:pPr>
            <a:r>
              <a:rPr lang="en-GB" dirty="0"/>
              <a:t>Perform a Thorough Hazard Analysis in each step</a:t>
            </a:r>
          </a:p>
          <a:p>
            <a:pPr marL="342900" indent="-342900" algn="just">
              <a:buAutoNum type="arabicPeriod"/>
            </a:pPr>
            <a:r>
              <a:rPr lang="en-GB" dirty="0"/>
              <a:t>Apply a CCP Decision Tree</a:t>
            </a:r>
          </a:p>
          <a:p>
            <a:pPr marL="342900" indent="-342900" algn="just">
              <a:buAutoNum type="arabicPeriod"/>
            </a:pPr>
            <a:r>
              <a:rPr lang="en-GB" dirty="0"/>
              <a:t>Determine the CCPs </a:t>
            </a:r>
          </a:p>
          <a:p>
            <a:pPr marL="342900" indent="-342900" algn="just">
              <a:buAutoNum type="arabicPeriod"/>
            </a:pPr>
            <a:r>
              <a:rPr lang="en-GB" dirty="0"/>
              <a:t>Categorise by Type of Control (chemical, physical, biological, allergen)</a:t>
            </a:r>
          </a:p>
          <a:p>
            <a:pPr marL="342900" indent="-342900" algn="just">
              <a:buAutoNum type="arabicPeriod"/>
            </a:pPr>
            <a:r>
              <a:rPr lang="en-GB" dirty="0"/>
              <a:t>Establish Critical Limits and Monitoring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9374DA-2501-0A2F-AEE9-4B8E3BA61911}"/>
              </a:ext>
            </a:extLst>
          </p:cNvPr>
          <p:cNvSpPr/>
          <p:nvPr/>
        </p:nvSpPr>
        <p:spPr>
          <a:xfrm>
            <a:off x="6894786" y="203341"/>
            <a:ext cx="2246711" cy="923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Logo</a:t>
            </a:r>
            <a:endParaRPr lang="en-US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285968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79F25-8A32-D977-87D7-E2113E846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D3C16183-BBFE-3952-AFD0-839639444074}"/>
              </a:ext>
            </a:extLst>
          </p:cNvPr>
          <p:cNvSpPr/>
          <p:nvPr/>
        </p:nvSpPr>
        <p:spPr>
          <a:xfrm rot="16200000">
            <a:off x="-659142" y="2590260"/>
            <a:ext cx="4936408" cy="2633472"/>
          </a:xfrm>
          <a:prstGeom prst="ellipse">
            <a:avLst/>
          </a:prstGeom>
          <a:solidFill>
            <a:srgbClr val="FFC000"/>
          </a:solidFill>
          <a:ln w="25400" cap="flat">
            <a:solidFill>
              <a:srgbClr val="FFC000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spc="0" normalizeH="0" baseline="0" dirty="0">
              <a:ln>
                <a:noFill/>
              </a:ln>
              <a:solidFill>
                <a:srgbClr val="C82D2B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782717-FE4F-1321-8E29-7669E7DB068D}"/>
              </a:ext>
            </a:extLst>
          </p:cNvPr>
          <p:cNvSpPr/>
          <p:nvPr/>
        </p:nvSpPr>
        <p:spPr>
          <a:xfrm>
            <a:off x="7419702" y="5925813"/>
            <a:ext cx="7028796" cy="691568"/>
          </a:xfrm>
          <a:prstGeom prst="rect">
            <a:avLst/>
          </a:prstGeom>
          <a:solidFill>
            <a:srgbClr val="C82D2B"/>
          </a:solidFill>
          <a:ln w="25400" cap="flat">
            <a:solidFill>
              <a:srgbClr val="C82D2B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AF9DA5-1317-3A46-8486-5C7A111A4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062" y="2799902"/>
            <a:ext cx="3817479" cy="381747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hought Bubble: Cloud 3">
            <a:extLst>
              <a:ext uri="{FF2B5EF4-FFF2-40B4-BE49-F238E27FC236}">
                <a16:creationId xmlns:a16="http://schemas.microsoft.com/office/drawing/2014/main" id="{B62DF773-550D-007C-2AF9-DC26C5F5BBE7}"/>
              </a:ext>
            </a:extLst>
          </p:cNvPr>
          <p:cNvSpPr/>
          <p:nvPr/>
        </p:nvSpPr>
        <p:spPr>
          <a:xfrm>
            <a:off x="2167010" y="336831"/>
            <a:ext cx="5525876" cy="3092169"/>
          </a:xfrm>
          <a:prstGeom prst="cloudCallout">
            <a:avLst>
              <a:gd name="adj1" fmla="val -10873"/>
              <a:gd name="adj2" fmla="val 75132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Can you tell me which CCPs you have in your</a:t>
            </a:r>
            <a:r>
              <a:rPr lang="en-GB" dirty="0"/>
              <a:t> work area</a:t>
            </a:r>
            <a:r>
              <a:rPr kumimoji="0" lang="en-GB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?</a:t>
            </a: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If not, do you know how many CCPs your company handles?</a:t>
            </a:r>
            <a:r>
              <a:rPr kumimoji="0" lang="en-GB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E57C04-D95A-5696-FD06-1FFE4AE36EC0}"/>
              </a:ext>
            </a:extLst>
          </p:cNvPr>
          <p:cNvSpPr/>
          <p:nvPr/>
        </p:nvSpPr>
        <p:spPr>
          <a:xfrm>
            <a:off x="7504386" y="87461"/>
            <a:ext cx="1637111" cy="923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Logo</a:t>
            </a:r>
            <a:endParaRPr lang="en-US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6717113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6DB2C-A470-9985-AB4A-94C2FE73D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85C7706-495A-A9C8-EBEE-F7572CF7A079}"/>
              </a:ext>
            </a:extLst>
          </p:cNvPr>
          <p:cNvSpPr txBox="1"/>
          <p:nvPr/>
        </p:nvSpPr>
        <p:spPr>
          <a:xfrm>
            <a:off x="1533880" y="240867"/>
            <a:ext cx="5096859" cy="400108"/>
          </a:xfrm>
          <a:prstGeom prst="rect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sz="2000" b="1" dirty="0">
                <a:latin typeface="Segoe UI" panose="020B0502040204020203" pitchFamily="34" charset="0"/>
              </a:rPr>
              <a:t>Importance of HACCP for D.Wise </a:t>
            </a:r>
            <a:r>
              <a:rPr lang="en-GB" sz="2000" b="1" dirty="0">
                <a:solidFill>
                  <a:schemeClr val="tx1"/>
                </a:solidFill>
                <a:ea typeface="Droid Sans Fallback"/>
                <a:cs typeface="Poppins Medium" panose="020B0604020202020204" pitchFamily="34" charset="0"/>
              </a:rPr>
              <a:t> </a:t>
            </a:r>
            <a:endParaRPr lang="en-GB" sz="2000" b="1" dirty="0">
              <a:solidFill>
                <a:schemeClr val="tx1"/>
              </a:solidFill>
              <a:effectLst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13" name="Pentagon 12">
            <a:extLst>
              <a:ext uri="{FF2B5EF4-FFF2-40B4-BE49-F238E27FC236}">
                <a16:creationId xmlns:a16="http://schemas.microsoft.com/office/drawing/2014/main" id="{34D5BE1D-CDB3-39C3-D89F-94B23930345B}"/>
              </a:ext>
            </a:extLst>
          </p:cNvPr>
          <p:cNvSpPr/>
          <p:nvPr/>
        </p:nvSpPr>
        <p:spPr>
          <a:xfrm rot="5400000">
            <a:off x="-269259" y="205004"/>
            <a:ext cx="1363863" cy="664490"/>
          </a:xfrm>
          <a:prstGeom prst="homePlate">
            <a:avLst>
              <a:gd name="adj" fmla="val 51220"/>
            </a:avLst>
          </a:prstGeom>
          <a:solidFill>
            <a:srgbClr val="72CAEE"/>
          </a:solidFill>
          <a:ln w="25400" cap="flat">
            <a:solidFill>
              <a:srgbClr val="72CAEE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0E4077-9785-1326-5B01-0F15CA6846AC}"/>
              </a:ext>
            </a:extLst>
          </p:cNvPr>
          <p:cNvSpPr txBox="1"/>
          <p:nvPr/>
        </p:nvSpPr>
        <p:spPr>
          <a:xfrm>
            <a:off x="412672" y="1372497"/>
            <a:ext cx="8081554" cy="53553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HACCP helps the company understand the potential risks associated with food safety in the production line.</a:t>
            </a:r>
          </a:p>
          <a:p>
            <a:endParaRPr lang="en-GB" dirty="0"/>
          </a:p>
          <a:p>
            <a:r>
              <a:rPr lang="en-GB" dirty="0"/>
              <a:t>2. Helps the company to identify, evaluate, and control potential hazards to prevent foodborne illnesses.</a:t>
            </a:r>
          </a:p>
          <a:p>
            <a:endParaRPr lang="en-GB" dirty="0"/>
          </a:p>
          <a:p>
            <a:r>
              <a:rPr lang="en-GB" dirty="0"/>
              <a:t>3. Helps the company to add necessary controls in place to tackle the potential risks.</a:t>
            </a:r>
          </a:p>
          <a:p>
            <a:endParaRPr lang="en-GB" b="0" i="0" dirty="0">
              <a:solidFill>
                <a:srgbClr val="151E28"/>
              </a:solidFill>
              <a:effectLst/>
              <a:latin typeface="Gilroy"/>
            </a:endParaRPr>
          </a:p>
          <a:p>
            <a:r>
              <a:rPr lang="en-GB" dirty="0">
                <a:solidFill>
                  <a:srgbClr val="151E28"/>
                </a:solidFill>
                <a:latin typeface="Gilroy"/>
              </a:rPr>
              <a:t>4. </a:t>
            </a:r>
            <a:r>
              <a:rPr lang="en-GB" b="0" i="0" dirty="0">
                <a:solidFill>
                  <a:srgbClr val="151E28"/>
                </a:solidFill>
                <a:effectLst/>
                <a:latin typeface="Gilroy"/>
              </a:rPr>
              <a:t>It protects consumer health, prevents foodborne illnesses and allergic reactions.</a:t>
            </a:r>
          </a:p>
          <a:p>
            <a:endParaRPr lang="en-GB" dirty="0">
              <a:solidFill>
                <a:srgbClr val="151E28"/>
              </a:solidFill>
              <a:latin typeface="Gilroy"/>
            </a:endParaRPr>
          </a:p>
          <a:p>
            <a:r>
              <a:rPr lang="en-GB" b="0" i="0" dirty="0">
                <a:solidFill>
                  <a:srgbClr val="151E28"/>
                </a:solidFill>
                <a:effectLst/>
                <a:latin typeface="Gilroy"/>
              </a:rPr>
              <a:t>5. Maintains consumer confidence in the quality and safety of the brand. </a:t>
            </a:r>
          </a:p>
          <a:p>
            <a:endParaRPr lang="en-GB" dirty="0">
              <a:solidFill>
                <a:srgbClr val="151E28"/>
              </a:solidFill>
              <a:latin typeface="Gilroy"/>
            </a:endParaRPr>
          </a:p>
          <a:p>
            <a:r>
              <a:rPr lang="en-GB" b="0" i="0" dirty="0">
                <a:solidFill>
                  <a:srgbClr val="151E28"/>
                </a:solidFill>
                <a:effectLst/>
                <a:latin typeface="Gilroy"/>
              </a:rPr>
              <a:t>6. Protects the business reputation as the HACCP is well implemented and monitored, avoiding recalls from the market.</a:t>
            </a:r>
          </a:p>
          <a:p>
            <a:endParaRPr lang="en-GB" dirty="0">
              <a:solidFill>
                <a:srgbClr val="151E28"/>
              </a:solidFill>
              <a:latin typeface="Gilroy"/>
            </a:endParaRPr>
          </a:p>
          <a:p>
            <a:r>
              <a:rPr lang="en-GB" dirty="0">
                <a:solidFill>
                  <a:srgbClr val="151E28"/>
                </a:solidFill>
                <a:latin typeface="Gilroy"/>
              </a:rPr>
              <a:t>7. Guide the company on how to comply with the law to keep Food Safety at the high level.</a:t>
            </a:r>
          </a:p>
          <a:p>
            <a:endParaRPr lang="en-GB" dirty="0">
              <a:solidFill>
                <a:srgbClr val="151E28"/>
              </a:solidFill>
              <a:latin typeface="Gilroy"/>
            </a:endParaRPr>
          </a:p>
          <a:p>
            <a:r>
              <a:rPr lang="en-GB" dirty="0">
                <a:solidFill>
                  <a:srgbClr val="151E28"/>
                </a:solidFill>
                <a:latin typeface="Gilroy"/>
              </a:rPr>
              <a:t>8.The company cannot trade without a HACCP system implemented.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A229B7-BB07-568D-D323-F7E0AAAD1510}"/>
              </a:ext>
            </a:extLst>
          </p:cNvPr>
          <p:cNvSpPr/>
          <p:nvPr/>
        </p:nvSpPr>
        <p:spPr>
          <a:xfrm>
            <a:off x="6894786" y="203341"/>
            <a:ext cx="2246711" cy="923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Logo</a:t>
            </a:r>
            <a:endParaRPr lang="en-US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723579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29946-349D-A020-2D18-6582707CD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>
            <a:extLst>
              <a:ext uri="{FF2B5EF4-FFF2-40B4-BE49-F238E27FC236}">
                <a16:creationId xmlns:a16="http://schemas.microsoft.com/office/drawing/2014/main" id="{4DFC78CB-AFD2-7B32-159E-9849428CDD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47" y="2751898"/>
            <a:ext cx="2069874" cy="6771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buNone/>
            </a:pPr>
            <a:r>
              <a:rPr lang="en-GB" sz="1200" b="1" dirty="0">
                <a:effectLst/>
                <a:ea typeface="Times New Roman" panose="02020603050405020304" pitchFamily="18" charset="0"/>
              </a:rPr>
              <a:t>CCP 1</a:t>
            </a:r>
            <a:endParaRPr lang="en-GB" sz="1200" dirty="0">
              <a:effectLst/>
              <a:ea typeface="Times New Roman" panose="02020603050405020304" pitchFamily="18" charset="0"/>
            </a:endParaRPr>
          </a:p>
          <a:p>
            <a:pPr algn="ctr">
              <a:buNone/>
            </a:pPr>
            <a:r>
              <a:rPr lang="en-GB" sz="1200" dirty="0">
                <a:effectLst/>
                <a:ea typeface="Times New Roman" panose="02020603050405020304" pitchFamily="18" charset="0"/>
              </a:rPr>
              <a:t>In-line Filtering 1000 microns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07637F75-6B28-1BE7-3CE2-43CEDB7B2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256" y="2751898"/>
            <a:ext cx="2447925" cy="149698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buNone/>
            </a:pPr>
            <a:r>
              <a:rPr lang="en-GB" sz="1100" b="1" dirty="0">
                <a:effectLst/>
                <a:ea typeface="Times New Roman" panose="02020603050405020304" pitchFamily="18" charset="0"/>
              </a:rPr>
              <a:t>CCP 2 – Liquid and Scrambled Egg</a:t>
            </a:r>
            <a:endParaRPr lang="en-GB" sz="1100" b="1" dirty="0"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GB" sz="1100" b="1" dirty="0">
                <a:effectLst/>
                <a:ea typeface="Times New Roman" panose="02020603050405020304" pitchFamily="18" charset="0"/>
              </a:rPr>
              <a:t>Pasteuriser</a:t>
            </a:r>
            <a:r>
              <a:rPr lang="en-GB" sz="1100" b="1" dirty="0">
                <a:ea typeface="Times New Roman" panose="02020603050405020304" pitchFamily="18" charset="0"/>
              </a:rPr>
              <a:t>: </a:t>
            </a:r>
            <a:r>
              <a:rPr lang="en-GB" sz="1100" dirty="0">
                <a:ea typeface="Times New Roman" panose="02020603050405020304" pitchFamily="18" charset="0"/>
              </a:rPr>
              <a:t>&gt; 72 °C for 2.5 min.</a:t>
            </a:r>
          </a:p>
          <a:p>
            <a:pPr>
              <a:buNone/>
            </a:pPr>
            <a:endParaRPr lang="en-GB" sz="1100" dirty="0"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GB" sz="1100" b="1" dirty="0">
                <a:ea typeface="Times New Roman" panose="02020603050405020304" pitchFamily="18" charset="0"/>
              </a:rPr>
              <a:t>Scrambled Egg</a:t>
            </a:r>
            <a:r>
              <a:rPr lang="en-GB" sz="1100" dirty="0">
                <a:ea typeface="Times New Roman" panose="02020603050405020304" pitchFamily="18" charset="0"/>
              </a:rPr>
              <a:t>: C</a:t>
            </a:r>
            <a:r>
              <a:rPr lang="en-GB" sz="1100" dirty="0">
                <a:effectLst/>
                <a:ea typeface="Times New Roman" panose="02020603050405020304" pitchFamily="18" charset="0"/>
              </a:rPr>
              <a:t>ooked at&gt;</a:t>
            </a:r>
            <a:r>
              <a:rPr lang="en-GB" sz="1100" dirty="0">
                <a:ea typeface="Times New Roman" panose="02020603050405020304" pitchFamily="18" charset="0"/>
              </a:rPr>
              <a:t>88</a:t>
            </a:r>
            <a:r>
              <a:rPr lang="en-GB" sz="1100" dirty="0">
                <a:effectLst/>
                <a:ea typeface="Times New Roman" panose="02020603050405020304" pitchFamily="18" charset="0"/>
              </a:rPr>
              <a:t> °C for 20 mins.</a:t>
            </a:r>
          </a:p>
          <a:p>
            <a:pPr>
              <a:buNone/>
            </a:pPr>
            <a:endParaRPr lang="en-GB" sz="1100" dirty="0"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GB" sz="1100" b="1" dirty="0">
                <a:effectLst/>
                <a:ea typeface="Times New Roman" panose="02020603050405020304" pitchFamily="18" charset="0"/>
              </a:rPr>
              <a:t>CCP3 – </a:t>
            </a:r>
            <a:r>
              <a:rPr lang="en-GB" sz="1100" b="1" dirty="0">
                <a:ea typeface="Times New Roman" panose="02020603050405020304" pitchFamily="18" charset="0"/>
              </a:rPr>
              <a:t>Cooking </a:t>
            </a:r>
            <a:r>
              <a:rPr lang="en-GB" sz="1100" b="1" dirty="0">
                <a:effectLst/>
                <a:ea typeface="Times New Roman" panose="02020603050405020304" pitchFamily="18" charset="0"/>
              </a:rPr>
              <a:t>Egg Omelette: </a:t>
            </a:r>
            <a:r>
              <a:rPr lang="en-GB" sz="1100" dirty="0">
                <a:ea typeface="Times New Roman" panose="02020603050405020304" pitchFamily="18" charset="0"/>
              </a:rPr>
              <a:t>Cooked at&gt;86 °C for 20 mins.</a:t>
            </a:r>
            <a:endParaRPr lang="en-GB" sz="11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19" name="Text Box 2">
            <a:extLst>
              <a:ext uri="{FF2B5EF4-FFF2-40B4-BE49-F238E27FC236}">
                <a16:creationId xmlns:a16="http://schemas.microsoft.com/office/drawing/2014/main" id="{1B27D318-E9B1-4647-071F-D712B95366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2139" y="4363241"/>
            <a:ext cx="1858316" cy="9240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/>
            <a:r>
              <a:rPr lang="en-GB" sz="1100" b="1" dirty="0">
                <a:ea typeface="Times New Roman" panose="02020603050405020304" pitchFamily="18" charset="0"/>
              </a:rPr>
              <a:t>CCP 2</a:t>
            </a:r>
            <a:endParaRPr lang="en-GB" sz="1100" dirty="0">
              <a:ea typeface="Times New Roman" panose="02020603050405020304" pitchFamily="18" charset="0"/>
            </a:endParaRPr>
          </a:p>
          <a:p>
            <a:r>
              <a:rPr lang="en-GB" sz="1100" b="1" dirty="0">
                <a:ea typeface="Times New Roman" panose="02020603050405020304" pitchFamily="18" charset="0"/>
              </a:rPr>
              <a:t>Egg Muffin </a:t>
            </a:r>
            <a:r>
              <a:rPr lang="en-GB" sz="1100" dirty="0">
                <a:ea typeface="Times New Roman" panose="02020603050405020304" pitchFamily="18" charset="0"/>
              </a:rPr>
              <a:t>Metal Detection</a:t>
            </a:r>
          </a:p>
          <a:p>
            <a:pPr algn="ctr"/>
            <a:r>
              <a:rPr lang="en-GB" sz="1100" b="1" dirty="0">
                <a:ea typeface="Times New Roman" panose="02020603050405020304" pitchFamily="18" charset="0"/>
              </a:rPr>
              <a:t>CCP 4</a:t>
            </a:r>
            <a:endParaRPr lang="en-GB" sz="1100" dirty="0"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GB" sz="1100" b="1" dirty="0">
                <a:effectLst/>
                <a:ea typeface="Times New Roman" panose="02020603050405020304" pitchFamily="18" charset="0"/>
              </a:rPr>
              <a:t>IQF Scrambled Egg </a:t>
            </a:r>
            <a:r>
              <a:rPr lang="en-GB" sz="1100" dirty="0">
                <a:effectLst/>
                <a:ea typeface="Times New Roman" panose="02020603050405020304" pitchFamily="18" charset="0"/>
              </a:rPr>
              <a:t>Metal Detection</a:t>
            </a:r>
          </a:p>
          <a:p>
            <a:pPr algn="ctr">
              <a:buNone/>
            </a:pPr>
            <a:endParaRPr lang="en-GB" sz="1100" dirty="0">
              <a:ea typeface="Times New Roman" panose="02020603050405020304" pitchFamily="18" charset="0"/>
            </a:endParaRPr>
          </a:p>
          <a:p>
            <a:pPr algn="ctr">
              <a:buNone/>
            </a:pPr>
            <a:endParaRPr lang="en-GB" sz="11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20" name="Text Box 2">
            <a:extLst>
              <a:ext uri="{FF2B5EF4-FFF2-40B4-BE49-F238E27FC236}">
                <a16:creationId xmlns:a16="http://schemas.microsoft.com/office/drawing/2014/main" id="{B0EEFB52-7E73-58F5-8A85-AEFC23B5A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270" y="4007975"/>
            <a:ext cx="2447925" cy="9233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/>
            <a:r>
              <a:rPr lang="en-GB" sz="1100" b="1" dirty="0">
                <a:ea typeface="Times New Roman" panose="02020603050405020304" pitchFamily="18" charset="0"/>
              </a:rPr>
              <a:t>CCP3 – Chilling Scrambled Egg</a:t>
            </a:r>
          </a:p>
          <a:p>
            <a:pPr algn="ctr"/>
            <a:r>
              <a:rPr lang="en-GB" sz="1100" dirty="0">
                <a:effectLst/>
                <a:ea typeface="Times New Roman" panose="02020603050405020304" pitchFamily="18" charset="0"/>
              </a:rPr>
              <a:t>Chilled &lt; 8 °C within 90 minutes.</a:t>
            </a:r>
          </a:p>
          <a:p>
            <a:pPr algn="ctr"/>
            <a:endParaRPr lang="en-GB" sz="1100" b="1" dirty="0">
              <a:ea typeface="Times New Roman" panose="02020603050405020304" pitchFamily="18" charset="0"/>
            </a:endParaRPr>
          </a:p>
          <a:p>
            <a:pPr algn="ctr"/>
            <a:r>
              <a:rPr lang="en-GB" sz="1100" b="1" dirty="0">
                <a:ea typeface="Times New Roman" panose="02020603050405020304" pitchFamily="18" charset="0"/>
              </a:rPr>
              <a:t>CCP4 – Chilling </a:t>
            </a:r>
            <a:r>
              <a:rPr lang="en-GB" sz="1100" b="1" dirty="0">
                <a:effectLst/>
                <a:ea typeface="Times New Roman" panose="02020603050405020304" pitchFamily="18" charset="0"/>
              </a:rPr>
              <a:t>Egg Omelette</a:t>
            </a:r>
            <a:endParaRPr lang="en-GB" sz="1100" b="1" dirty="0">
              <a:ea typeface="Times New Roman" panose="02020603050405020304" pitchFamily="18" charset="0"/>
            </a:endParaRPr>
          </a:p>
          <a:p>
            <a:pPr algn="ctr"/>
            <a:r>
              <a:rPr lang="en-GB" sz="1100" dirty="0">
                <a:ea typeface="Times New Roman" panose="02020603050405020304" pitchFamily="18" charset="0"/>
              </a:rPr>
              <a:t>Chilled &lt; 8 °C within 90 minutes.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2A6EF5-6DBE-0145-3C2E-AFB6A8674702}"/>
              </a:ext>
            </a:extLst>
          </p:cNvPr>
          <p:cNvSpPr txBox="1"/>
          <p:nvPr/>
        </p:nvSpPr>
        <p:spPr>
          <a:xfrm>
            <a:off x="64710" y="1551569"/>
            <a:ext cx="2069874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b="1" dirty="0"/>
              <a:t>Physical hazards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rgbClr val="FF0000"/>
                </a:solidFill>
              </a:rPr>
              <a:t>Pasteuriser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Scrambled Egg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Muffin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80301F-B02C-1422-5F7B-ED7074E6D077}"/>
              </a:ext>
            </a:extLst>
          </p:cNvPr>
          <p:cNvSpPr txBox="1"/>
          <p:nvPr/>
        </p:nvSpPr>
        <p:spPr>
          <a:xfrm>
            <a:off x="2268176" y="1828568"/>
            <a:ext cx="2296083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     Kill pathogens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rgbClr val="FF0000"/>
                </a:solidFill>
              </a:rPr>
              <a:t>Pasteuriser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Scrambled Egg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ED786F-1081-1DA4-1711-31C183F6024C}"/>
              </a:ext>
            </a:extLst>
          </p:cNvPr>
          <p:cNvSpPr txBox="1"/>
          <p:nvPr/>
        </p:nvSpPr>
        <p:spPr>
          <a:xfrm>
            <a:off x="4660326" y="2673124"/>
            <a:ext cx="2514869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b="1" dirty="0"/>
              <a:t>Avoid micro-grown</a:t>
            </a:r>
          </a:p>
          <a:p>
            <a:r>
              <a:rPr lang="en-US" dirty="0">
                <a:solidFill>
                  <a:srgbClr val="FF0000"/>
                </a:solidFill>
              </a:rPr>
              <a:t>- Cooking Scrambled Egg</a:t>
            </a:r>
          </a:p>
          <a:p>
            <a:r>
              <a:rPr lang="en-US" dirty="0">
                <a:solidFill>
                  <a:srgbClr val="FF0000"/>
                </a:solidFill>
              </a:rPr>
              <a:t>- Cooking Muffin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6E694B-3B93-F185-3578-17BC9307055A}"/>
              </a:ext>
            </a:extLst>
          </p:cNvPr>
          <p:cNvSpPr txBox="1"/>
          <p:nvPr/>
        </p:nvSpPr>
        <p:spPr>
          <a:xfrm>
            <a:off x="7262284" y="3048552"/>
            <a:ext cx="1754050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Physical hazards</a:t>
            </a:r>
          </a:p>
          <a:p>
            <a:r>
              <a:rPr lang="en-US" b="1" dirty="0">
                <a:solidFill>
                  <a:srgbClr val="FF0000"/>
                </a:solidFill>
              </a:rPr>
              <a:t>Metal Detection</a:t>
            </a:r>
          </a:p>
          <a:p>
            <a:r>
              <a:rPr lang="en-US" dirty="0">
                <a:solidFill>
                  <a:srgbClr val="FF0000"/>
                </a:solidFill>
              </a:rPr>
              <a:t>- IQF</a:t>
            </a:r>
          </a:p>
          <a:p>
            <a:r>
              <a:rPr lang="en-US" dirty="0">
                <a:solidFill>
                  <a:srgbClr val="FF0000"/>
                </a:solidFill>
              </a:rPr>
              <a:t>- Muffin</a:t>
            </a:r>
          </a:p>
        </p:txBody>
      </p:sp>
      <p:sp>
        <p:nvSpPr>
          <p:cNvPr id="3" name="Flowchart: Collate 2">
            <a:extLst>
              <a:ext uri="{FF2B5EF4-FFF2-40B4-BE49-F238E27FC236}">
                <a16:creationId xmlns:a16="http://schemas.microsoft.com/office/drawing/2014/main" id="{5C3EEFB8-A83C-0E27-D87B-A958FD36EF19}"/>
              </a:ext>
            </a:extLst>
          </p:cNvPr>
          <p:cNvSpPr/>
          <p:nvPr/>
        </p:nvSpPr>
        <p:spPr>
          <a:xfrm>
            <a:off x="658345" y="3459781"/>
            <a:ext cx="882604" cy="3385634"/>
          </a:xfrm>
          <a:prstGeom prst="flowChartCollate">
            <a:avLst/>
          </a:prstGeom>
          <a:solidFill>
            <a:srgbClr val="0070C0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1" name="Flowchart: Collate 10">
            <a:extLst>
              <a:ext uri="{FF2B5EF4-FFF2-40B4-BE49-F238E27FC236}">
                <a16:creationId xmlns:a16="http://schemas.microsoft.com/office/drawing/2014/main" id="{5FACD117-AFC3-FC45-165A-00A446469B34}"/>
              </a:ext>
            </a:extLst>
          </p:cNvPr>
          <p:cNvSpPr/>
          <p:nvPr/>
        </p:nvSpPr>
        <p:spPr>
          <a:xfrm>
            <a:off x="3059163" y="4275008"/>
            <a:ext cx="790367" cy="2570406"/>
          </a:xfrm>
          <a:prstGeom prst="flowChartCollate">
            <a:avLst/>
          </a:prstGeom>
          <a:solidFill>
            <a:srgbClr val="0070C0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3" name="Flowchart: Collate 12">
            <a:extLst>
              <a:ext uri="{FF2B5EF4-FFF2-40B4-BE49-F238E27FC236}">
                <a16:creationId xmlns:a16="http://schemas.microsoft.com/office/drawing/2014/main" id="{7FC6E96A-0CB7-A7D4-1318-CC8464342717}"/>
              </a:ext>
            </a:extLst>
          </p:cNvPr>
          <p:cNvSpPr/>
          <p:nvPr/>
        </p:nvSpPr>
        <p:spPr>
          <a:xfrm>
            <a:off x="5621569" y="4952109"/>
            <a:ext cx="728241" cy="1893304"/>
          </a:xfrm>
          <a:prstGeom prst="flowChartCollate">
            <a:avLst/>
          </a:prstGeom>
          <a:solidFill>
            <a:srgbClr val="0070C0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5" name="Flowchart: Collate 14">
            <a:extLst>
              <a:ext uri="{FF2B5EF4-FFF2-40B4-BE49-F238E27FC236}">
                <a16:creationId xmlns:a16="http://schemas.microsoft.com/office/drawing/2014/main" id="{6DE48DB9-DF17-D2BC-692A-1B7428DD9439}"/>
              </a:ext>
            </a:extLst>
          </p:cNvPr>
          <p:cNvSpPr/>
          <p:nvPr/>
        </p:nvSpPr>
        <p:spPr>
          <a:xfrm>
            <a:off x="7938509" y="5313378"/>
            <a:ext cx="595889" cy="1532034"/>
          </a:xfrm>
          <a:prstGeom prst="flowChartCollate">
            <a:avLst/>
          </a:prstGeom>
          <a:solidFill>
            <a:srgbClr val="0070C0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411783-3C95-3B0E-45CA-825B0738D6D6}"/>
              </a:ext>
            </a:extLst>
          </p:cNvPr>
          <p:cNvSpPr txBox="1"/>
          <p:nvPr/>
        </p:nvSpPr>
        <p:spPr>
          <a:xfrm>
            <a:off x="517301" y="309051"/>
            <a:ext cx="5468388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sz="2400" b="1" dirty="0"/>
              <a:t>CCP: Critical Control Point </a:t>
            </a:r>
          </a:p>
          <a:p>
            <a:pPr algn="ctr"/>
            <a:r>
              <a:rPr lang="en-US" sz="2400" b="1" dirty="0"/>
              <a:t>Examples in </a:t>
            </a:r>
            <a:r>
              <a:rPr lang="en-US" sz="2400" b="1" dirty="0">
                <a:solidFill>
                  <a:srgbClr val="FF0000"/>
                </a:solidFill>
              </a:rPr>
              <a:t>Food Production  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50DE9F-F67F-01B6-78F5-35250DC6B4CA}"/>
              </a:ext>
            </a:extLst>
          </p:cNvPr>
          <p:cNvSpPr/>
          <p:nvPr/>
        </p:nvSpPr>
        <p:spPr>
          <a:xfrm>
            <a:off x="6894786" y="203341"/>
            <a:ext cx="2246711" cy="923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Logo</a:t>
            </a:r>
            <a:endParaRPr lang="en-US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6383342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A3101-612B-FD66-B5E8-868BA2DD7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1C0F63-161F-B53B-8799-46EE2BCC3DD1}"/>
              </a:ext>
            </a:extLst>
          </p:cNvPr>
          <p:cNvSpPr/>
          <p:nvPr/>
        </p:nvSpPr>
        <p:spPr>
          <a:xfrm>
            <a:off x="0" y="6563730"/>
            <a:ext cx="9144000" cy="719327"/>
          </a:xfrm>
          <a:prstGeom prst="rect">
            <a:avLst/>
          </a:prstGeom>
          <a:solidFill>
            <a:srgbClr val="72CAEE"/>
          </a:solidFill>
          <a:ln w="25400" cap="flat">
            <a:solidFill>
              <a:srgbClr val="72CAEE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DA865D98-BB06-0F3D-0224-3A2B100B7496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209005" y="1121630"/>
            <a:ext cx="8534399" cy="5644293"/>
          </a:xfrm>
          <a:prstGeom prst="rect">
            <a:avLst/>
          </a:prstGeom>
        </p:spPr>
        <p:txBody>
          <a:bodyPr>
            <a:noAutofit/>
          </a:bodyPr>
          <a:lstStyle>
            <a:lvl1pPr marL="342900" marR="0" indent="-3429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83771" marR="0" indent="-326571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19200" marR="0" indent="-3048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373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945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517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1089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661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233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400" b="1" dirty="0"/>
              <a:t>CCP Monitoring </a:t>
            </a:r>
          </a:p>
          <a:p>
            <a:pPr marL="0" lvl="1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1400" dirty="0"/>
              <a:t>To monitor Critical Control Points (CCPs) effectively in a HACCP system, we need to regularly observe control measures to ensure they remain within established critical limits. </a:t>
            </a:r>
          </a:p>
          <a:p>
            <a:pPr marL="0" lvl="1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1400" dirty="0"/>
              <a:t>Our monitoring system MUST match the production records and reflect the immediate results. </a:t>
            </a:r>
          </a:p>
          <a:p>
            <a:pPr marL="0" lvl="1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GB" sz="1400" dirty="0"/>
          </a:p>
          <a:p>
            <a:pPr marL="0" lvl="1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1400" b="1" dirty="0">
                <a:solidFill>
                  <a:srgbClr val="FF0000"/>
                </a:solidFill>
              </a:rPr>
              <a:t>The Technical/Quality team must be informed immediately in case of CCP deviations </a:t>
            </a:r>
          </a:p>
          <a:p>
            <a:pPr marL="0" lvl="1" indent="0">
              <a:lnSpc>
                <a:spcPct val="150000"/>
              </a:lnSpc>
              <a:buNone/>
            </a:pPr>
            <a:r>
              <a:rPr lang="en-US" sz="1400" dirty="0"/>
              <a:t>A Non-Conformities/Incident Report MUST be recorded in case of deviation. </a:t>
            </a:r>
          </a:p>
          <a:p>
            <a:pPr marL="0" lvl="1" indent="0">
              <a:lnSpc>
                <a:spcPct val="150000"/>
              </a:lnSpc>
              <a:buNone/>
            </a:pPr>
            <a:endParaRPr lang="en-US" sz="1400" dirty="0"/>
          </a:p>
          <a:p>
            <a:pPr marL="0" lvl="1" indent="0">
              <a:lnSpc>
                <a:spcPct val="150000"/>
              </a:lnSpc>
              <a:buNone/>
            </a:pPr>
            <a:r>
              <a:rPr lang="en-US" sz="1400" b="1" dirty="0"/>
              <a:t>Environmental Monitoring</a:t>
            </a:r>
          </a:p>
          <a:p>
            <a:pPr marL="0" lvl="1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1400" dirty="0"/>
              <a:t>Environmental monitoring is important </a:t>
            </a:r>
            <a:r>
              <a:rPr lang="en-US" sz="1400" dirty="0"/>
              <a:t>for controlling potential pathogens and indicates adherence to </a:t>
            </a:r>
            <a:r>
              <a:rPr lang="en-GB" sz="1400" dirty="0"/>
              <a:t>Good Manufacturing Practices (GMP) and housekeeping. </a:t>
            </a:r>
            <a:r>
              <a:rPr lang="en-US" sz="1400" dirty="0"/>
              <a:t>Routine testing for generic organisms must be taken regularly to eliminate and reduce contamination to an</a:t>
            </a:r>
            <a:r>
              <a:rPr lang="en-GB" sz="1400" dirty="0"/>
              <a:t> acceptable level.</a:t>
            </a:r>
          </a:p>
          <a:p>
            <a:pPr marL="0" lvl="1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1400" dirty="0"/>
              <a:t>The frequency of testing is based on risk, which will be determined by a Risk Assessment managed by the HACCP Team. </a:t>
            </a:r>
          </a:p>
          <a:p>
            <a:pPr marL="0" lvl="1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9DF104-11B7-E3EC-19D7-B532FD9DDCB1}"/>
              </a:ext>
            </a:extLst>
          </p:cNvPr>
          <p:cNvSpPr txBox="1"/>
          <p:nvPr/>
        </p:nvSpPr>
        <p:spPr>
          <a:xfrm>
            <a:off x="1533880" y="240867"/>
            <a:ext cx="5096859" cy="400108"/>
          </a:xfrm>
          <a:prstGeom prst="rect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sz="2000" b="1" dirty="0">
                <a:latin typeface="Segoe UI" panose="020B0502040204020203" pitchFamily="34" charset="0"/>
              </a:rPr>
              <a:t>Monitoring </a:t>
            </a:r>
            <a:r>
              <a:rPr lang="en-GB" sz="2000" b="1" dirty="0">
                <a:solidFill>
                  <a:schemeClr val="tx1"/>
                </a:solidFill>
                <a:ea typeface="Droid Sans Fallback"/>
                <a:cs typeface="Poppins Medium" panose="020B0604020202020204" pitchFamily="34" charset="0"/>
              </a:rPr>
              <a:t> </a:t>
            </a:r>
            <a:endParaRPr lang="en-GB" sz="2000" b="1" dirty="0">
              <a:solidFill>
                <a:schemeClr val="tx1"/>
              </a:solidFill>
              <a:effectLst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F414A8-BFDC-1658-43AC-13284299A21D}"/>
              </a:ext>
            </a:extLst>
          </p:cNvPr>
          <p:cNvSpPr/>
          <p:nvPr/>
        </p:nvSpPr>
        <p:spPr>
          <a:xfrm>
            <a:off x="6894786" y="203341"/>
            <a:ext cx="2246711" cy="923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Logo</a:t>
            </a:r>
            <a:endParaRPr lang="en-US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371602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8B882-88DC-EBE3-9322-89B9F7390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0C70C5F-0E09-1B85-0C16-68BE5ABE58F1}"/>
              </a:ext>
            </a:extLst>
          </p:cNvPr>
          <p:cNvSpPr/>
          <p:nvPr/>
        </p:nvSpPr>
        <p:spPr>
          <a:xfrm>
            <a:off x="4779517" y="5491867"/>
            <a:ext cx="4656222" cy="374944"/>
          </a:xfrm>
          <a:prstGeom prst="rect">
            <a:avLst/>
          </a:prstGeom>
          <a:solidFill>
            <a:srgbClr val="72CAEE"/>
          </a:solidFill>
          <a:ln w="25400" cap="flat">
            <a:solidFill>
              <a:srgbClr val="72CAEE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5475EE-7E44-BDF2-6989-9B781A9AB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880" y="4968419"/>
            <a:ext cx="3956294" cy="1431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7" name="&quot;Not Allowed&quot; Symbol 16">
            <a:extLst>
              <a:ext uri="{FF2B5EF4-FFF2-40B4-BE49-F238E27FC236}">
                <a16:creationId xmlns:a16="http://schemas.microsoft.com/office/drawing/2014/main" id="{AAB7653C-06AE-B4EE-AC17-D35172E5923A}"/>
              </a:ext>
            </a:extLst>
          </p:cNvPr>
          <p:cNvSpPr/>
          <p:nvPr/>
        </p:nvSpPr>
        <p:spPr>
          <a:xfrm flipH="1">
            <a:off x="2429498" y="4855458"/>
            <a:ext cx="1652811" cy="1647762"/>
          </a:xfrm>
          <a:prstGeom prst="noSmoking">
            <a:avLst>
              <a:gd name="adj" fmla="val 5245"/>
            </a:avLst>
          </a:prstGeom>
          <a:solidFill>
            <a:srgbClr val="FE0000">
              <a:alpha val="49020"/>
            </a:srgbClr>
          </a:solidFill>
          <a:ln w="25400" cap="flat">
            <a:solidFill>
              <a:srgbClr val="FE0000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spc="0" normalizeH="0" baseline="0" dirty="0"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A7186B-E03D-45AE-C28B-184208844CF2}"/>
              </a:ext>
            </a:extLst>
          </p:cNvPr>
          <p:cNvSpPr txBox="1"/>
          <p:nvPr/>
        </p:nvSpPr>
        <p:spPr>
          <a:xfrm>
            <a:off x="1533880" y="240867"/>
            <a:ext cx="5096859" cy="400108"/>
          </a:xfrm>
          <a:prstGeom prst="rect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>
              <a:defRPr sz="2000" b="1">
                <a:latin typeface="Segoe UI" panose="020B0502040204020203" pitchFamily="34" charset="0"/>
              </a:defRPr>
            </a:lvl1pPr>
          </a:lstStyle>
          <a:p>
            <a:r>
              <a:rPr lang="en-US" dirty="0"/>
              <a:t>To remember </a:t>
            </a:r>
            <a:r>
              <a:rPr lang="en-US"/>
              <a:t>– </a:t>
            </a:r>
            <a:r>
              <a:rPr lang="en-US" dirty="0"/>
              <a:t>Hazard</a:t>
            </a:r>
            <a:r>
              <a:rPr lang="en-US"/>
              <a:t>: Chemical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0E18E0-8DCB-DD4E-26C4-760A7A358DEC}"/>
              </a:ext>
            </a:extLst>
          </p:cNvPr>
          <p:cNvSpPr txBox="1"/>
          <p:nvPr/>
        </p:nvSpPr>
        <p:spPr>
          <a:xfrm>
            <a:off x="426358" y="1497744"/>
            <a:ext cx="8312173" cy="17113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en-GB" sz="1800" b="1" dirty="0">
                <a:latin typeface="Google Sans"/>
              </a:rPr>
              <a:t>Sanitise Surfaces and Equipment:</a:t>
            </a:r>
            <a:r>
              <a:rPr lang="en-GB" sz="1800" dirty="0">
                <a:latin typeface="Google Sans"/>
              </a:rPr>
              <a:t> Clean worktops and equipment with the chemical from the approved suppliers, following the cleaning cards </a:t>
            </a:r>
            <a:r>
              <a:rPr lang="en-GB" sz="1800" b="1" dirty="0">
                <a:latin typeface="Google Sans"/>
              </a:rPr>
              <a:t>(CIC’s)</a:t>
            </a:r>
            <a:r>
              <a:rPr lang="en-GB" sz="1800" dirty="0">
                <a:latin typeface="Google Sans"/>
              </a:rPr>
              <a:t>, </a:t>
            </a:r>
            <a:r>
              <a:rPr lang="en-US" sz="1800" dirty="0">
                <a:latin typeface="Google Sans"/>
              </a:rPr>
              <a:t>ensuring the </a:t>
            </a:r>
            <a:r>
              <a:rPr lang="en-US" sz="1800" b="1" dirty="0">
                <a:latin typeface="Google Sans"/>
              </a:rPr>
              <a:t>correct concentration</a:t>
            </a:r>
            <a:r>
              <a:rPr lang="en-US" sz="1800" dirty="0">
                <a:latin typeface="Google Sans"/>
              </a:rPr>
              <a:t> and contact time, and using the appropriate</a:t>
            </a:r>
            <a:r>
              <a:rPr lang="en-GB" sz="1800" dirty="0">
                <a:latin typeface="Google Sans"/>
              </a:rPr>
              <a:t> cleaning tools. </a:t>
            </a:r>
            <a:r>
              <a:rPr lang="en-GB" sz="1800" b="1" dirty="0">
                <a:solidFill>
                  <a:srgbClr val="FF0000"/>
                </a:solidFill>
                <a:latin typeface="Google Sans"/>
              </a:rPr>
              <a:t>Sponges and wired pads are not permitted</a:t>
            </a:r>
            <a:r>
              <a:rPr lang="en-GB" sz="1800" dirty="0">
                <a:latin typeface="Google Sans"/>
              </a:rPr>
              <a:t>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F68861-EA93-095B-B188-6A26F204E9AA}"/>
              </a:ext>
            </a:extLst>
          </p:cNvPr>
          <p:cNvSpPr txBox="1"/>
          <p:nvPr/>
        </p:nvSpPr>
        <p:spPr>
          <a:xfrm>
            <a:off x="323369" y="3606472"/>
            <a:ext cx="8536852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  <a:latin typeface="Google Sans"/>
              </a:rPr>
              <a:t>Chemical approved supplier: </a:t>
            </a:r>
          </a:p>
          <a:p>
            <a:r>
              <a:rPr lang="en-US" sz="1800" dirty="0">
                <a:solidFill>
                  <a:srgbClr val="FF0000"/>
                </a:solidFill>
                <a:latin typeface="Google Sans"/>
              </a:rPr>
              <a:t>Tell me which chemical suppliers your company has approved 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705BED-42AA-830A-5C65-EEA6D8972162}"/>
              </a:ext>
            </a:extLst>
          </p:cNvPr>
          <p:cNvSpPr/>
          <p:nvPr/>
        </p:nvSpPr>
        <p:spPr>
          <a:xfrm>
            <a:off x="6894786" y="203341"/>
            <a:ext cx="2246711" cy="923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Logo</a:t>
            </a:r>
            <a:endParaRPr lang="en-US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3876382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87A8B-690C-D03C-79CC-C291E782E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5DD1BC8-02BD-8F1C-732D-3E91F90421F8}"/>
              </a:ext>
            </a:extLst>
          </p:cNvPr>
          <p:cNvSpPr/>
          <p:nvPr/>
        </p:nvSpPr>
        <p:spPr>
          <a:xfrm>
            <a:off x="6825289" y="5335504"/>
            <a:ext cx="3328416" cy="374944"/>
          </a:xfrm>
          <a:prstGeom prst="rect">
            <a:avLst/>
          </a:prstGeom>
          <a:solidFill>
            <a:srgbClr val="72CAEE"/>
          </a:solidFill>
          <a:ln w="25400" cap="flat">
            <a:solidFill>
              <a:srgbClr val="72CAEE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0128F5-0ADD-060B-FF06-2189BDB9183D}"/>
              </a:ext>
            </a:extLst>
          </p:cNvPr>
          <p:cNvSpPr txBox="1"/>
          <p:nvPr/>
        </p:nvSpPr>
        <p:spPr>
          <a:xfrm>
            <a:off x="1533880" y="240867"/>
            <a:ext cx="5096859" cy="400108"/>
          </a:xfrm>
          <a:prstGeom prst="rect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sz="2000" b="1" dirty="0">
                <a:latin typeface="Segoe UI" panose="020B0502040204020203" pitchFamily="34" charset="0"/>
              </a:rPr>
              <a:t>To remember – Hazard: Physical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67D7F3-8790-39C0-6D91-614FC868E29F}"/>
              </a:ext>
            </a:extLst>
          </p:cNvPr>
          <p:cNvSpPr txBox="1"/>
          <p:nvPr/>
        </p:nvSpPr>
        <p:spPr>
          <a:xfrm>
            <a:off x="203928" y="1128180"/>
            <a:ext cx="8736144" cy="17113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/>
              <a:t>Physical Hazards are any foreign object or naturally occurring extraneous matter that unintentionally ends up in food. </a:t>
            </a:r>
          </a:p>
          <a:p>
            <a:pPr>
              <a:lnSpc>
                <a:spcPct val="150000"/>
              </a:lnSpc>
            </a:pPr>
            <a:r>
              <a:rPr lang="en-GB" dirty="0"/>
              <a:t>They can carry significant risks to consumers, such as choking, cuts, internal tissue damage and broken teeth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CEC154-5830-0971-C737-B9F2A1E79A1C}"/>
              </a:ext>
            </a:extLst>
          </p:cNvPr>
          <p:cNvGrpSpPr/>
          <p:nvPr/>
        </p:nvGrpSpPr>
        <p:grpSpPr>
          <a:xfrm>
            <a:off x="0" y="3991961"/>
            <a:ext cx="2510564" cy="2982393"/>
            <a:chOff x="6286490" y="1224038"/>
            <a:chExt cx="2554439" cy="288403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0AF77D4-16B8-076A-60B8-509F8CC9D0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87827" y="2049604"/>
              <a:ext cx="1985098" cy="2058469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14BD13E-54EE-0083-4708-56FBFC3F8E25}"/>
                </a:ext>
              </a:extLst>
            </p:cNvPr>
            <p:cNvSpPr txBox="1"/>
            <p:nvPr/>
          </p:nvSpPr>
          <p:spPr>
            <a:xfrm>
              <a:off x="6522720" y="1702472"/>
              <a:ext cx="2115312" cy="338552"/>
            </a:xfrm>
            <a:custGeom>
              <a:avLst/>
              <a:gdLst>
                <a:gd name="connsiteX0" fmla="*/ 0 w 2115312"/>
                <a:gd name="connsiteY0" fmla="*/ 0 h 338552"/>
                <a:gd name="connsiteX1" fmla="*/ 2115312 w 2115312"/>
                <a:gd name="connsiteY1" fmla="*/ 0 h 338552"/>
                <a:gd name="connsiteX2" fmla="*/ 2115312 w 2115312"/>
                <a:gd name="connsiteY2" fmla="*/ 338552 h 338552"/>
                <a:gd name="connsiteX3" fmla="*/ 0 w 2115312"/>
                <a:gd name="connsiteY3" fmla="*/ 338552 h 338552"/>
                <a:gd name="connsiteX4" fmla="*/ 0 w 2115312"/>
                <a:gd name="connsiteY4" fmla="*/ 0 h 338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15312" h="338552" extrusionOk="0">
                  <a:moveTo>
                    <a:pt x="0" y="0"/>
                  </a:moveTo>
                  <a:cubicBezTo>
                    <a:pt x="525757" y="-24146"/>
                    <a:pt x="1819790" y="-15491"/>
                    <a:pt x="2115312" y="0"/>
                  </a:cubicBezTo>
                  <a:cubicBezTo>
                    <a:pt x="2097339" y="113709"/>
                    <a:pt x="2130043" y="276529"/>
                    <a:pt x="2115312" y="338552"/>
                  </a:cubicBezTo>
                  <a:cubicBezTo>
                    <a:pt x="1734731" y="262393"/>
                    <a:pt x="388313" y="177003"/>
                    <a:pt x="0" y="338552"/>
                  </a:cubicBezTo>
                  <a:cubicBezTo>
                    <a:pt x="14449" y="237461"/>
                    <a:pt x="19799" y="130379"/>
                    <a:pt x="0" y="0"/>
                  </a:cubicBezTo>
                  <a:close/>
                </a:path>
              </a:pathLst>
            </a:custGeom>
            <a:noFill/>
            <a:ln w="38100" cap="flat">
              <a:solidFill>
                <a:srgbClr val="53B259"/>
              </a:solidFill>
              <a:miter lim="400000"/>
              <a:extLst>
                <a:ext uri="{C807C97D-BFC1-408E-A445-0C87EB9F89A2}">
                  <ask:lineSketchStyleProps xmlns:ask="http://schemas.microsoft.com/office/drawing/2018/sketchyshapes" sd="616752050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lvl="0" algn="ctr"/>
              <a:r>
                <a:rPr lang="en-GB" sz="1600" b="1" dirty="0">
                  <a:solidFill>
                    <a:schemeClr val="tx1"/>
                  </a:solidFill>
                  <a:latin typeface="+mn-ea"/>
                  <a:cs typeface="Poppins Medium" panose="020B0604020202020204" pitchFamily="34" charset="0"/>
                </a:rPr>
                <a:t>No glass in the canteen </a:t>
              </a:r>
              <a:endParaRPr lang="en-GB" sz="1600" b="1" dirty="0"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0" name="&quot;Not Allowed&quot; Symbol 9">
              <a:extLst>
                <a:ext uri="{FF2B5EF4-FFF2-40B4-BE49-F238E27FC236}">
                  <a16:creationId xmlns:a16="http://schemas.microsoft.com/office/drawing/2014/main" id="{D1DA5BC6-CE01-630E-5E39-E08B5FF0B804}"/>
                </a:ext>
              </a:extLst>
            </p:cNvPr>
            <p:cNvSpPr/>
            <p:nvPr/>
          </p:nvSpPr>
          <p:spPr>
            <a:xfrm flipH="1">
              <a:off x="6286490" y="1224038"/>
              <a:ext cx="2554439" cy="2595550"/>
            </a:xfrm>
            <a:prstGeom prst="noSmoking">
              <a:avLst>
                <a:gd name="adj" fmla="val 5245"/>
              </a:avLst>
            </a:prstGeom>
            <a:solidFill>
              <a:srgbClr val="FE0000">
                <a:alpha val="49020"/>
              </a:srgbClr>
            </a:solidFill>
            <a:ln w="25400" cap="flat">
              <a:solidFill>
                <a:srgbClr val="FE0000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spc="0" normalizeH="0" baseline="0" dirty="0"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58E2FAC-32C9-0E2F-D902-47384EE15BDE}"/>
              </a:ext>
            </a:extLst>
          </p:cNvPr>
          <p:cNvSpPr txBox="1"/>
          <p:nvPr/>
        </p:nvSpPr>
        <p:spPr>
          <a:xfrm>
            <a:off x="260553" y="3033098"/>
            <a:ext cx="8622894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GB" b="1" dirty="0"/>
              <a:t>Examples of Physical Hazards: </a:t>
            </a:r>
            <a:r>
              <a:rPr lang="en-GB" dirty="0"/>
              <a:t>Glass, a piece of plastic, hair, insects, bugs, plaster, screws, etc.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5331CF-3005-029D-EF56-F2746202F428}"/>
              </a:ext>
            </a:extLst>
          </p:cNvPr>
          <p:cNvSpPr txBox="1"/>
          <p:nvPr/>
        </p:nvSpPr>
        <p:spPr>
          <a:xfrm>
            <a:off x="2878067" y="3991961"/>
            <a:ext cx="2343792" cy="1815880"/>
          </a:xfrm>
          <a:custGeom>
            <a:avLst/>
            <a:gdLst>
              <a:gd name="connsiteX0" fmla="*/ 0 w 2343792"/>
              <a:gd name="connsiteY0" fmla="*/ 0 h 1815880"/>
              <a:gd name="connsiteX1" fmla="*/ 2343792 w 2343792"/>
              <a:gd name="connsiteY1" fmla="*/ 0 h 1815880"/>
              <a:gd name="connsiteX2" fmla="*/ 2343792 w 2343792"/>
              <a:gd name="connsiteY2" fmla="*/ 1815880 h 1815880"/>
              <a:gd name="connsiteX3" fmla="*/ 0 w 2343792"/>
              <a:gd name="connsiteY3" fmla="*/ 1815880 h 1815880"/>
              <a:gd name="connsiteX4" fmla="*/ 0 w 2343792"/>
              <a:gd name="connsiteY4" fmla="*/ 0 h 1815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3792" h="1815880" extrusionOk="0">
                <a:moveTo>
                  <a:pt x="0" y="0"/>
                </a:moveTo>
                <a:cubicBezTo>
                  <a:pt x="339620" y="-24146"/>
                  <a:pt x="1383013" y="-15491"/>
                  <a:pt x="2343792" y="0"/>
                </a:cubicBezTo>
                <a:cubicBezTo>
                  <a:pt x="2259218" y="508507"/>
                  <a:pt x="2314331" y="1016617"/>
                  <a:pt x="2343792" y="1815880"/>
                </a:cubicBezTo>
                <a:cubicBezTo>
                  <a:pt x="1693804" y="1739721"/>
                  <a:pt x="826985" y="1654331"/>
                  <a:pt x="0" y="1815880"/>
                </a:cubicBezTo>
                <a:cubicBezTo>
                  <a:pt x="-104414" y="1147089"/>
                  <a:pt x="38748" y="818458"/>
                  <a:pt x="0" y="0"/>
                </a:cubicBezTo>
                <a:close/>
              </a:path>
            </a:pathLst>
          </a:custGeom>
          <a:noFill/>
          <a:ln w="38100" cap="flat">
            <a:solidFill>
              <a:srgbClr val="53B259"/>
            </a:solidFill>
            <a:miter lim="400000"/>
            <a:extLst>
              <a:ext uri="{C807C97D-BFC1-408E-A445-0C87EB9F89A2}">
                <ask:lineSketchStyleProps xmlns:ask="http://schemas.microsoft.com/office/drawing/2018/sketchyshapes" sd="616752050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lvl="0" algn="ctr"/>
            <a:r>
              <a:rPr lang="en-GB" sz="2800" b="1" dirty="0">
                <a:solidFill>
                  <a:srgbClr val="FF0000"/>
                </a:solidFill>
                <a:effectLst/>
                <a:latin typeface="+mn-ea"/>
                <a:cs typeface="Poppins Medium" panose="020B0604020202020204" pitchFamily="34" charset="0"/>
              </a:rPr>
              <a:t>Please report any broken glass in production </a:t>
            </a:r>
            <a:endParaRPr lang="en-GB" sz="2800" b="1" dirty="0">
              <a:solidFill>
                <a:srgbClr val="FF0000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7E6F1A9-7027-90C6-4B66-018EDFB29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362" y="4532329"/>
            <a:ext cx="2979957" cy="2291577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7A469F0-AE3D-CEE7-A403-93FCBB7A6942}"/>
              </a:ext>
            </a:extLst>
          </p:cNvPr>
          <p:cNvSpPr/>
          <p:nvPr/>
        </p:nvSpPr>
        <p:spPr>
          <a:xfrm>
            <a:off x="6894786" y="203341"/>
            <a:ext cx="2246711" cy="923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Logo</a:t>
            </a:r>
            <a:endParaRPr lang="en-US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60410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B2C7F-9D0E-FB64-A829-B637EABF4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42C640E-670A-960E-04FD-8BB775345178}"/>
              </a:ext>
            </a:extLst>
          </p:cNvPr>
          <p:cNvSpPr txBox="1"/>
          <p:nvPr/>
        </p:nvSpPr>
        <p:spPr>
          <a:xfrm>
            <a:off x="1533880" y="240867"/>
            <a:ext cx="5096859" cy="400108"/>
          </a:xfrm>
          <a:prstGeom prst="rect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sz="2000" b="1" dirty="0">
                <a:latin typeface="Segoe UI" panose="020B0502040204020203" pitchFamily="34" charset="0"/>
              </a:rPr>
              <a:t>To remember – Hazard: Allergen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75F74F-1561-E0E7-6803-24898A307ED5}"/>
              </a:ext>
            </a:extLst>
          </p:cNvPr>
          <p:cNvSpPr txBox="1"/>
          <p:nvPr/>
        </p:nvSpPr>
        <p:spPr>
          <a:xfrm>
            <a:off x="119332" y="890019"/>
            <a:ext cx="8905336" cy="587590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400" dirty="0"/>
              <a:t>By law, food businesses must clearly indicate if any of the </a:t>
            </a:r>
            <a:r>
              <a:rPr lang="en-GB" sz="1400" b="1" dirty="0"/>
              <a:t>14 major food allergens</a:t>
            </a:r>
            <a:r>
              <a:rPr lang="en-GB" sz="1400" dirty="0"/>
              <a:t> are used 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as ingredients in their products. These 14 allergens are:</a:t>
            </a:r>
          </a:p>
          <a:p>
            <a:pPr>
              <a:lnSpc>
                <a:spcPct val="150000"/>
              </a:lnSpc>
            </a:pPr>
            <a:endParaRPr lang="en-GB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sz="1400" b="1" dirty="0">
                <a:solidFill>
                  <a:srgbClr val="0A0A0A"/>
                </a:solidFill>
              </a:rPr>
              <a:t>Celery:</a:t>
            </a:r>
            <a:r>
              <a:rPr lang="en-GB" sz="1400" dirty="0">
                <a:solidFill>
                  <a:srgbClr val="0A0A0A"/>
                </a:solidFill>
              </a:rPr>
              <a:t> stalks, leaves, seeds, and root (celeriac).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sz="1400" b="1" dirty="0">
                <a:solidFill>
                  <a:srgbClr val="0A0A0A"/>
                </a:solidFill>
              </a:rPr>
              <a:t>Cereals Containing Gluten:</a:t>
            </a:r>
            <a:r>
              <a:rPr lang="en-GB" sz="1400" dirty="0">
                <a:solidFill>
                  <a:srgbClr val="0A0A0A"/>
                </a:solidFill>
              </a:rPr>
              <a:t> wheat (spelt, Khorasan), rye, barley, and oats.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sz="1400" b="1" dirty="0">
                <a:solidFill>
                  <a:srgbClr val="0A0A0A"/>
                </a:solidFill>
              </a:rPr>
              <a:t>Crustaceans:</a:t>
            </a:r>
            <a:r>
              <a:rPr lang="en-GB" sz="1400" dirty="0">
                <a:solidFill>
                  <a:srgbClr val="0A0A0A"/>
                </a:solidFill>
              </a:rPr>
              <a:t> crabs, lobster, prawns, and scampi.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sz="1400" b="1" dirty="0">
                <a:solidFill>
                  <a:srgbClr val="0A0A0A"/>
                </a:solidFill>
              </a:rPr>
              <a:t>Eggs:</a:t>
            </a:r>
            <a:r>
              <a:rPr lang="en-GB" sz="1400" dirty="0">
                <a:solidFill>
                  <a:srgbClr val="0A0A0A"/>
                </a:solidFill>
              </a:rPr>
              <a:t> baked goods, mayonnaise, and sauces.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sz="1400" b="1" dirty="0">
                <a:solidFill>
                  <a:srgbClr val="0A0A0A"/>
                </a:solidFill>
              </a:rPr>
              <a:t>Fish:</a:t>
            </a:r>
            <a:r>
              <a:rPr lang="en-GB" sz="1400" dirty="0">
                <a:solidFill>
                  <a:srgbClr val="0A0A0A"/>
                </a:solidFill>
              </a:rPr>
              <a:t> fish sauces, relishes.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sz="1400" b="1" dirty="0">
                <a:solidFill>
                  <a:srgbClr val="0A0A0A"/>
                </a:solidFill>
              </a:rPr>
              <a:t>Lupin:</a:t>
            </a:r>
            <a:r>
              <a:rPr lang="en-GB" sz="1400" dirty="0">
                <a:solidFill>
                  <a:srgbClr val="0A0A0A"/>
                </a:solidFill>
              </a:rPr>
              <a:t> seeds and flour can be used in some breads and pastries.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sz="1400" b="1" dirty="0">
                <a:solidFill>
                  <a:srgbClr val="0A0A0A"/>
                </a:solidFill>
              </a:rPr>
              <a:t>Milk:</a:t>
            </a:r>
            <a:r>
              <a:rPr lang="en-GB" sz="1400" dirty="0">
                <a:solidFill>
                  <a:srgbClr val="0A0A0A"/>
                </a:solidFill>
              </a:rPr>
              <a:t> milk, butter, cheese, cream. </a:t>
            </a:r>
          </a:p>
          <a:p>
            <a:pPr>
              <a:lnSpc>
                <a:spcPct val="150000"/>
              </a:lnSpc>
            </a:pPr>
            <a:r>
              <a:rPr lang="en-GB" sz="1400" b="1" dirty="0">
                <a:solidFill>
                  <a:srgbClr val="0A0A0A"/>
                </a:solidFill>
              </a:rPr>
              <a:t>8. Molluscs:</a:t>
            </a:r>
            <a:r>
              <a:rPr lang="en-GB" sz="1400" dirty="0">
                <a:solidFill>
                  <a:srgbClr val="0A0A0A"/>
                </a:solidFill>
              </a:rPr>
              <a:t> mussels, oysters, squid, and escargot.</a:t>
            </a:r>
          </a:p>
          <a:p>
            <a:pPr>
              <a:lnSpc>
                <a:spcPct val="150000"/>
              </a:lnSpc>
            </a:pPr>
            <a:r>
              <a:rPr lang="en-GB" sz="1400" b="1" dirty="0">
                <a:solidFill>
                  <a:srgbClr val="0A0A0A"/>
                </a:solidFill>
              </a:rPr>
              <a:t>9. Mustard:</a:t>
            </a:r>
            <a:r>
              <a:rPr lang="en-GB" sz="1400" dirty="0">
                <a:solidFill>
                  <a:srgbClr val="0A0A0A"/>
                </a:solidFill>
              </a:rPr>
              <a:t> liquid mustard, powder, and seeds.</a:t>
            </a:r>
          </a:p>
          <a:p>
            <a:pPr>
              <a:lnSpc>
                <a:spcPct val="150000"/>
              </a:lnSpc>
            </a:pPr>
            <a:r>
              <a:rPr lang="en-GB" sz="1400" b="1" dirty="0">
                <a:solidFill>
                  <a:srgbClr val="0A0A0A"/>
                </a:solidFill>
              </a:rPr>
              <a:t>10. Peanuts:</a:t>
            </a:r>
            <a:r>
              <a:rPr lang="en-GB" sz="1400" dirty="0">
                <a:solidFill>
                  <a:srgbClr val="0A0A0A"/>
                </a:solidFill>
              </a:rPr>
              <a:t> also called groundnuts. </a:t>
            </a:r>
          </a:p>
          <a:p>
            <a:pPr>
              <a:lnSpc>
                <a:spcPct val="150000"/>
              </a:lnSpc>
            </a:pPr>
            <a:r>
              <a:rPr lang="en-GB" sz="1400" b="1" dirty="0">
                <a:solidFill>
                  <a:srgbClr val="0A0A0A"/>
                </a:solidFill>
              </a:rPr>
              <a:t>11. Sesame Seeds:</a:t>
            </a:r>
            <a:r>
              <a:rPr lang="en-GB" sz="1400" dirty="0">
                <a:solidFill>
                  <a:srgbClr val="0A0A0A"/>
                </a:solidFill>
              </a:rPr>
              <a:t> burger buns with sesame, salads, and in hummus.</a:t>
            </a:r>
          </a:p>
          <a:p>
            <a:pPr>
              <a:lnSpc>
                <a:spcPct val="150000"/>
              </a:lnSpc>
            </a:pPr>
            <a:r>
              <a:rPr lang="en-GB" sz="1400" b="1" dirty="0">
                <a:solidFill>
                  <a:srgbClr val="0A0A0A"/>
                </a:solidFill>
              </a:rPr>
              <a:t>12. Soybeans:</a:t>
            </a:r>
            <a:r>
              <a:rPr lang="en-GB" sz="1400" dirty="0">
                <a:solidFill>
                  <a:srgbClr val="0A0A0A"/>
                </a:solidFill>
              </a:rPr>
              <a:t> tofu, edamame, miso, and soy sauce.</a:t>
            </a:r>
          </a:p>
          <a:p>
            <a:pPr>
              <a:lnSpc>
                <a:spcPct val="150000"/>
              </a:lnSpc>
            </a:pPr>
            <a:r>
              <a:rPr lang="en-GB" sz="1400" b="1" dirty="0">
                <a:solidFill>
                  <a:srgbClr val="0A0A0A"/>
                </a:solidFill>
              </a:rPr>
              <a:t>13. Sulphur Dioxide and Sulphites:</a:t>
            </a:r>
            <a:r>
              <a:rPr lang="en-GB" sz="1400" dirty="0">
                <a:solidFill>
                  <a:srgbClr val="0A0A0A"/>
                </a:solidFill>
              </a:rPr>
              <a:t> food preservatives, dried fruits, wine, and meat products</a:t>
            </a:r>
          </a:p>
          <a:p>
            <a:pPr>
              <a:lnSpc>
                <a:spcPct val="150000"/>
              </a:lnSpc>
            </a:pPr>
            <a:r>
              <a:rPr lang="en-GB" sz="1400" b="1" dirty="0"/>
              <a:t>14. Tree Nuts:</a:t>
            </a:r>
            <a:r>
              <a:rPr lang="en-GB" sz="1400" dirty="0"/>
              <a:t> Includes almonds, hazelnuts, walnuts, cashews, pecans, Brazil nuts, pistachios, and macadamia nuts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GB" sz="1400" dirty="0"/>
          </a:p>
        </p:txBody>
      </p:sp>
      <p:sp>
        <p:nvSpPr>
          <p:cNvPr id="16" name="Pentagon 12">
            <a:extLst>
              <a:ext uri="{FF2B5EF4-FFF2-40B4-BE49-F238E27FC236}">
                <a16:creationId xmlns:a16="http://schemas.microsoft.com/office/drawing/2014/main" id="{49654252-8652-F645-918A-7712C1769567}"/>
              </a:ext>
            </a:extLst>
          </p:cNvPr>
          <p:cNvSpPr/>
          <p:nvPr/>
        </p:nvSpPr>
        <p:spPr>
          <a:xfrm rot="10800000">
            <a:off x="7934217" y="3645653"/>
            <a:ext cx="1363863" cy="664490"/>
          </a:xfrm>
          <a:prstGeom prst="homePlate">
            <a:avLst>
              <a:gd name="adj" fmla="val 51220"/>
            </a:avLst>
          </a:prstGeom>
          <a:solidFill>
            <a:srgbClr val="72CAEE"/>
          </a:solidFill>
          <a:ln w="25400" cap="flat">
            <a:solidFill>
              <a:srgbClr val="72CAEE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33D399-A378-6E0A-E6D0-0EE13280E047}"/>
              </a:ext>
            </a:extLst>
          </p:cNvPr>
          <p:cNvSpPr/>
          <p:nvPr/>
        </p:nvSpPr>
        <p:spPr>
          <a:xfrm>
            <a:off x="6894786" y="203341"/>
            <a:ext cx="2246711" cy="923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Logo</a:t>
            </a:r>
            <a:endParaRPr lang="en-US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770686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C3FB1-46E0-8202-88B9-26CFB49FA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590B181-861B-649C-46CC-A2E533FEB148}"/>
              </a:ext>
            </a:extLst>
          </p:cNvPr>
          <p:cNvSpPr/>
          <p:nvPr/>
        </p:nvSpPr>
        <p:spPr>
          <a:xfrm>
            <a:off x="7571264" y="4269694"/>
            <a:ext cx="1041513" cy="3028089"/>
          </a:xfrm>
          <a:prstGeom prst="rect">
            <a:avLst/>
          </a:prstGeom>
          <a:solidFill>
            <a:srgbClr val="72CAEE"/>
          </a:solidFill>
          <a:ln w="25400" cap="flat">
            <a:solidFill>
              <a:srgbClr val="72CAEE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50D8DE-2E03-C2C3-FAA7-0B95389A388D}"/>
              </a:ext>
            </a:extLst>
          </p:cNvPr>
          <p:cNvSpPr txBox="1"/>
          <p:nvPr/>
        </p:nvSpPr>
        <p:spPr>
          <a:xfrm>
            <a:off x="1533880" y="240867"/>
            <a:ext cx="5096859" cy="400108"/>
          </a:xfrm>
          <a:prstGeom prst="rect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sz="2000" b="1" dirty="0">
                <a:latin typeface="Segoe UI" panose="020B0502040204020203" pitchFamily="34" charset="0"/>
              </a:rPr>
              <a:t>To remember – Hazard: Allergen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A2F4B9-B817-891D-6A20-E1CE80A8E2DF}"/>
              </a:ext>
            </a:extLst>
          </p:cNvPr>
          <p:cNvSpPr txBox="1"/>
          <p:nvPr/>
        </p:nvSpPr>
        <p:spPr>
          <a:xfrm>
            <a:off x="1533880" y="721142"/>
            <a:ext cx="5361826" cy="2957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rgbClr val="FF0000"/>
                </a:solidFill>
                <a:latin typeface="Google Sans"/>
              </a:rPr>
              <a:t>Allergens on (company) Site:</a:t>
            </a:r>
          </a:p>
          <a:p>
            <a:pPr>
              <a:lnSpc>
                <a:spcPct val="150000"/>
              </a:lnSpc>
            </a:pPr>
            <a:r>
              <a:rPr lang="en-GB" b="1" dirty="0">
                <a:solidFill>
                  <a:srgbClr val="0A0A0A"/>
                </a:solidFill>
                <a:latin typeface="Google Sans"/>
              </a:rPr>
              <a:t>Cereals Containing Gluten: </a:t>
            </a:r>
            <a:r>
              <a:rPr lang="en-GB" dirty="0">
                <a:solidFill>
                  <a:srgbClr val="0A0A0A"/>
                </a:solidFill>
                <a:latin typeface="Google Sans"/>
              </a:rPr>
              <a:t>Breakfast Egg Muffin</a:t>
            </a:r>
            <a:r>
              <a:rPr lang="en-GB" b="1" dirty="0">
                <a:solidFill>
                  <a:srgbClr val="0A0A0A"/>
                </a:solidFill>
                <a:latin typeface="Google Sans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GB" b="1" dirty="0">
                <a:solidFill>
                  <a:srgbClr val="0A0A0A"/>
                </a:solidFill>
                <a:latin typeface="Google Sans"/>
              </a:rPr>
              <a:t>Eggs: </a:t>
            </a:r>
            <a:r>
              <a:rPr lang="en-GB" dirty="0">
                <a:solidFill>
                  <a:srgbClr val="0A0A0A"/>
                </a:solidFill>
                <a:latin typeface="Google Sans"/>
              </a:rPr>
              <a:t>all (company) products </a:t>
            </a:r>
          </a:p>
          <a:p>
            <a:pPr>
              <a:lnSpc>
                <a:spcPct val="150000"/>
              </a:lnSpc>
            </a:pPr>
            <a:r>
              <a:rPr lang="en-GB" b="1" dirty="0">
                <a:solidFill>
                  <a:srgbClr val="0A0A0A"/>
                </a:solidFill>
                <a:latin typeface="Google Sans"/>
              </a:rPr>
              <a:t>Fish:</a:t>
            </a:r>
            <a:r>
              <a:rPr lang="en-GB" dirty="0">
                <a:solidFill>
                  <a:srgbClr val="0A0A0A"/>
                </a:solidFill>
                <a:latin typeface="Google Sans"/>
              </a:rPr>
              <a:t> Smoked Salmon – Egg Muffin </a:t>
            </a:r>
          </a:p>
          <a:p>
            <a:pPr>
              <a:lnSpc>
                <a:spcPct val="150000"/>
              </a:lnSpc>
            </a:pPr>
            <a:r>
              <a:rPr lang="en-GB" b="1" dirty="0">
                <a:solidFill>
                  <a:srgbClr val="0A0A0A"/>
                </a:solidFill>
                <a:latin typeface="Google Sans"/>
              </a:rPr>
              <a:t>Milk:</a:t>
            </a:r>
            <a:r>
              <a:rPr lang="en-GB" dirty="0">
                <a:solidFill>
                  <a:srgbClr val="0A0A0A"/>
                </a:solidFill>
                <a:latin typeface="Google Sans"/>
              </a:rPr>
              <a:t> Scrambled Egg, Cheese muffin</a:t>
            </a:r>
          </a:p>
          <a:p>
            <a:pPr>
              <a:lnSpc>
                <a:spcPct val="150000"/>
              </a:lnSpc>
            </a:pPr>
            <a:r>
              <a:rPr lang="en-GB" b="1" dirty="0">
                <a:solidFill>
                  <a:srgbClr val="0A0A0A"/>
                </a:solidFill>
                <a:latin typeface="Google Sans"/>
              </a:rPr>
              <a:t>Sulphur Dioxide and Sulphites:</a:t>
            </a:r>
            <a:r>
              <a:rPr lang="en-GB" dirty="0">
                <a:solidFill>
                  <a:srgbClr val="0A0A0A"/>
                </a:solidFill>
                <a:latin typeface="Google Sans"/>
              </a:rPr>
              <a:t> Breakfast Egg Muffin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372176-C758-3B2C-B83F-2FE9DF6803A1}"/>
              </a:ext>
            </a:extLst>
          </p:cNvPr>
          <p:cNvSpPr/>
          <p:nvPr/>
        </p:nvSpPr>
        <p:spPr>
          <a:xfrm>
            <a:off x="6894786" y="203341"/>
            <a:ext cx="2246711" cy="923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Logo</a:t>
            </a:r>
            <a:endParaRPr lang="en-US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CDE949-D127-B7B4-39EE-550AB311B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0739" y="2825720"/>
            <a:ext cx="2349500" cy="1866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5FBA26-A2C8-3B8B-6504-CC930B604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27" y="4539135"/>
            <a:ext cx="2077998" cy="207799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Thought Bubble: Cloud 3">
            <a:extLst>
              <a:ext uri="{FF2B5EF4-FFF2-40B4-BE49-F238E27FC236}">
                <a16:creationId xmlns:a16="http://schemas.microsoft.com/office/drawing/2014/main" id="{A42F6F6A-5C19-33E4-96D7-4463E224E789}"/>
              </a:ext>
            </a:extLst>
          </p:cNvPr>
          <p:cNvSpPr/>
          <p:nvPr/>
        </p:nvSpPr>
        <p:spPr>
          <a:xfrm>
            <a:off x="3180891" y="3606552"/>
            <a:ext cx="2966267" cy="2670509"/>
          </a:xfrm>
          <a:prstGeom prst="cloudCallout">
            <a:avLst>
              <a:gd name="adj1" fmla="val -89022"/>
              <a:gd name="adj2" fmla="val -3009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Can you name the allergens you handle in the workplace?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399354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88E0D-B987-557A-B36B-6E732A71F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">
            <a:extLst>
              <a:ext uri="{FF2B5EF4-FFF2-40B4-BE49-F238E27FC236}">
                <a16:creationId xmlns:a16="http://schemas.microsoft.com/office/drawing/2014/main" id="{65B3AD1D-B6F7-2603-91BA-02C5923A82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332" y="614194"/>
            <a:ext cx="8344105" cy="121573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GB" sz="2400" b="1" dirty="0">
                <a:solidFill>
                  <a:srgbClr val="FF0000"/>
                </a:solidFill>
              </a:rPr>
              <a:t>Nut-free site. </a:t>
            </a:r>
            <a:br>
              <a:rPr lang="en-GB" sz="2400" b="1" dirty="0">
                <a:solidFill>
                  <a:srgbClr val="FF0000"/>
                </a:solidFill>
              </a:rPr>
            </a:br>
            <a:r>
              <a:rPr lang="en-GB" sz="2400" b="1" dirty="0">
                <a:solidFill>
                  <a:srgbClr val="FF0000"/>
                </a:solidFill>
              </a:rPr>
              <a:t>We do not bring food that contains nuts when we come to work.  </a:t>
            </a:r>
            <a:endParaRPr sz="2400" b="1" dirty="0">
              <a:solidFill>
                <a:srgbClr val="FF0000"/>
              </a:solidFill>
            </a:endParaRPr>
          </a:p>
        </p:txBody>
      </p:sp>
      <p:pic>
        <p:nvPicPr>
          <p:cNvPr id="2052" name="Picture 4" descr="SAS Growth Mindset: Stuck? SEE, THINK, and DO things differently! :  Reminder: Peanut and Tree nut Free Classroom">
            <a:extLst>
              <a:ext uri="{FF2B5EF4-FFF2-40B4-BE49-F238E27FC236}">
                <a16:creationId xmlns:a16="http://schemas.microsoft.com/office/drawing/2014/main" id="{96A29B2A-4801-4AED-20A2-6648BE413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3" y="2797975"/>
            <a:ext cx="2674235" cy="1501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2D411664-E582-6978-CA2E-C2C3B96D16BF}"/>
              </a:ext>
            </a:extLst>
          </p:cNvPr>
          <p:cNvGrpSpPr/>
          <p:nvPr/>
        </p:nvGrpSpPr>
        <p:grpSpPr>
          <a:xfrm>
            <a:off x="6976344" y="2564891"/>
            <a:ext cx="1708858" cy="2157649"/>
            <a:chOff x="7224243" y="1829933"/>
            <a:chExt cx="1708858" cy="2157649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DAD1B69-1595-7CFA-FF8F-AFB6259ECE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24243" y="1829933"/>
              <a:ext cx="1708858" cy="2157649"/>
            </a:xfrm>
            <a:prstGeom prst="rect">
              <a:avLst/>
            </a:prstGeom>
          </p:spPr>
        </p:pic>
        <p:sp>
          <p:nvSpPr>
            <p:cNvPr id="17" name="&quot;Not Allowed&quot; Symbol 16">
              <a:extLst>
                <a:ext uri="{FF2B5EF4-FFF2-40B4-BE49-F238E27FC236}">
                  <a16:creationId xmlns:a16="http://schemas.microsoft.com/office/drawing/2014/main" id="{ADCFAC6F-6582-9C4D-E0AE-B9B4D7187AB3}"/>
                </a:ext>
              </a:extLst>
            </p:cNvPr>
            <p:cNvSpPr/>
            <p:nvPr/>
          </p:nvSpPr>
          <p:spPr>
            <a:xfrm flipH="1">
              <a:off x="7419702" y="2140082"/>
              <a:ext cx="1267098" cy="1411376"/>
            </a:xfrm>
            <a:prstGeom prst="noSmoking">
              <a:avLst>
                <a:gd name="adj" fmla="val 5245"/>
              </a:avLst>
            </a:prstGeom>
            <a:solidFill>
              <a:srgbClr val="FE0000"/>
            </a:solidFill>
            <a:ln w="25400" cap="flat">
              <a:solidFill>
                <a:srgbClr val="FE0000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spc="0" normalizeH="0" baseline="0" dirty="0"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168C32B-2957-6B2B-6FE7-D469E65A8560}"/>
              </a:ext>
            </a:extLst>
          </p:cNvPr>
          <p:cNvGrpSpPr/>
          <p:nvPr/>
        </p:nvGrpSpPr>
        <p:grpSpPr>
          <a:xfrm>
            <a:off x="701322" y="4483633"/>
            <a:ext cx="2072603" cy="2025617"/>
            <a:chOff x="457200" y="4438388"/>
            <a:chExt cx="2072603" cy="202561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FA8305C-B8FC-C2F2-5FD1-8A27967620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" y="4438388"/>
              <a:ext cx="2072603" cy="202561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8" name="&quot;Not Allowed&quot; Symbol 17">
              <a:extLst>
                <a:ext uri="{FF2B5EF4-FFF2-40B4-BE49-F238E27FC236}">
                  <a16:creationId xmlns:a16="http://schemas.microsoft.com/office/drawing/2014/main" id="{ECD5E5D6-EFF4-94FF-420B-DA8FCBD41C13}"/>
                </a:ext>
              </a:extLst>
            </p:cNvPr>
            <p:cNvSpPr/>
            <p:nvPr/>
          </p:nvSpPr>
          <p:spPr>
            <a:xfrm flipH="1">
              <a:off x="518590" y="4577793"/>
              <a:ext cx="1790761" cy="1746806"/>
            </a:xfrm>
            <a:prstGeom prst="noSmoking">
              <a:avLst>
                <a:gd name="adj" fmla="val 5245"/>
              </a:avLst>
            </a:prstGeom>
            <a:solidFill>
              <a:srgbClr val="FE0000"/>
            </a:solidFill>
            <a:ln w="25400" cap="flat">
              <a:solidFill>
                <a:srgbClr val="FE0000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spc="0" normalizeH="0" baseline="0" dirty="0"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76F27F4-9685-580E-F695-556591681555}"/>
              </a:ext>
            </a:extLst>
          </p:cNvPr>
          <p:cNvGrpSpPr/>
          <p:nvPr/>
        </p:nvGrpSpPr>
        <p:grpSpPr>
          <a:xfrm>
            <a:off x="3267692" y="2941101"/>
            <a:ext cx="3078354" cy="2724520"/>
            <a:chOff x="3535845" y="1924812"/>
            <a:chExt cx="3078354" cy="272452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CD1C9CD-C252-7F66-C58B-EB334DF62D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35845" y="1924812"/>
              <a:ext cx="3078354" cy="272452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9" name="&quot;Not Allowed&quot; Symbol 18">
              <a:extLst>
                <a:ext uri="{FF2B5EF4-FFF2-40B4-BE49-F238E27FC236}">
                  <a16:creationId xmlns:a16="http://schemas.microsoft.com/office/drawing/2014/main" id="{6A65F90E-FEF9-6F8D-4C7C-7E0A2F60F600}"/>
                </a:ext>
              </a:extLst>
            </p:cNvPr>
            <p:cNvSpPr/>
            <p:nvPr/>
          </p:nvSpPr>
          <p:spPr>
            <a:xfrm flipH="1">
              <a:off x="3885541" y="2089579"/>
              <a:ext cx="2330836" cy="2357322"/>
            </a:xfrm>
            <a:prstGeom prst="noSmoking">
              <a:avLst>
                <a:gd name="adj" fmla="val 5245"/>
              </a:avLst>
            </a:prstGeom>
            <a:solidFill>
              <a:srgbClr val="FE0000">
                <a:alpha val="49020"/>
              </a:srgbClr>
            </a:solidFill>
            <a:ln w="25400" cap="flat">
              <a:solidFill>
                <a:srgbClr val="FE0000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spc="0" normalizeH="0" baseline="0" dirty="0"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8C761D8-381F-205F-150A-EB9E91E33D22}"/>
              </a:ext>
            </a:extLst>
          </p:cNvPr>
          <p:cNvGrpSpPr/>
          <p:nvPr/>
        </p:nvGrpSpPr>
        <p:grpSpPr>
          <a:xfrm>
            <a:off x="6921019" y="4915738"/>
            <a:ext cx="1764183" cy="1775614"/>
            <a:chOff x="3096663" y="4814099"/>
            <a:chExt cx="1764183" cy="177561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9661B86-27E2-3D12-E4AC-084EF8D49D6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96663" y="4814099"/>
              <a:ext cx="1764183" cy="177561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4" name="&quot;Not Allowed&quot; Symbol 3">
              <a:extLst>
                <a:ext uri="{FF2B5EF4-FFF2-40B4-BE49-F238E27FC236}">
                  <a16:creationId xmlns:a16="http://schemas.microsoft.com/office/drawing/2014/main" id="{8F439675-E6FA-F5B3-7664-610152810782}"/>
                </a:ext>
              </a:extLst>
            </p:cNvPr>
            <p:cNvSpPr/>
            <p:nvPr/>
          </p:nvSpPr>
          <p:spPr>
            <a:xfrm flipH="1">
              <a:off x="3233194" y="4814099"/>
              <a:ext cx="1461701" cy="1593511"/>
            </a:xfrm>
            <a:prstGeom prst="noSmoking">
              <a:avLst>
                <a:gd name="adj" fmla="val 5245"/>
              </a:avLst>
            </a:prstGeom>
            <a:solidFill>
              <a:srgbClr val="FE0000"/>
            </a:solidFill>
            <a:ln w="25400" cap="flat">
              <a:solidFill>
                <a:srgbClr val="FE0000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spc="0" normalizeH="0" baseline="0" dirty="0"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A731D08-7357-528F-2165-F75953266496}"/>
              </a:ext>
            </a:extLst>
          </p:cNvPr>
          <p:cNvSpPr txBox="1"/>
          <p:nvPr/>
        </p:nvSpPr>
        <p:spPr>
          <a:xfrm>
            <a:off x="1742954" y="166647"/>
            <a:ext cx="5096859" cy="400108"/>
          </a:xfrm>
          <a:prstGeom prst="rect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sz="2000" b="1" dirty="0">
                <a:latin typeface="Segoe UI" panose="020B0502040204020203" pitchFamily="34" charset="0"/>
              </a:rPr>
              <a:t>To remember – Hazard: Allergen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2BC255-7D99-026E-89C4-9F7DC93A093E}"/>
              </a:ext>
            </a:extLst>
          </p:cNvPr>
          <p:cNvSpPr txBox="1"/>
          <p:nvPr/>
        </p:nvSpPr>
        <p:spPr>
          <a:xfrm>
            <a:off x="224226" y="1725362"/>
            <a:ext cx="8695547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rgbClr val="0A0A0A"/>
                </a:solidFill>
                <a:latin typeface="Google Sans"/>
              </a:rPr>
              <a:t>It is not allowed to bring 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products containing nuts to the site, such as Peanuts, Almonds, Hazelnuts, cashews, pecans, walnuts, pistachios, Brazil nuts, macadamia,</a:t>
            </a:r>
            <a:r>
              <a:rPr lang="en-GB" dirty="0">
                <a:solidFill>
                  <a:srgbClr val="0A0A0A"/>
                </a:solidFill>
                <a:latin typeface="Google Sans"/>
              </a:rPr>
              <a:t> and sesame.  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EA3763-ABDB-E997-F4AB-3610DA900315}"/>
              </a:ext>
            </a:extLst>
          </p:cNvPr>
          <p:cNvSpPr/>
          <p:nvPr/>
        </p:nvSpPr>
        <p:spPr>
          <a:xfrm>
            <a:off x="6894786" y="203341"/>
            <a:ext cx="2246711" cy="923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Logo</a:t>
            </a:r>
            <a:endParaRPr lang="en-US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7832865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2B77E-468A-CB85-945C-12B47BD5B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5495F146-8B60-6742-570B-33DFBFB39220}"/>
              </a:ext>
            </a:extLst>
          </p:cNvPr>
          <p:cNvSpPr txBox="1">
            <a:spLocks/>
          </p:cNvSpPr>
          <p:nvPr/>
        </p:nvSpPr>
        <p:spPr>
          <a:xfrm>
            <a:off x="454115" y="1004171"/>
            <a:ext cx="5480230" cy="779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 fontScale="85000" lnSpcReduction="20000"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l" hangingPunct="1"/>
            <a:r>
              <a:rPr lang="en-GB" sz="2000" b="1" dirty="0">
                <a:solidFill>
                  <a:schemeClr val="tx1"/>
                </a:solidFill>
              </a:rPr>
              <a:t>Examples of Key Performance Indicator: </a:t>
            </a:r>
          </a:p>
          <a:p>
            <a:pPr algn="l" hangingPunct="1"/>
            <a:endParaRPr lang="en-GB" sz="2000" dirty="0">
              <a:solidFill>
                <a:schemeClr val="tx1"/>
              </a:solidFill>
            </a:endParaRPr>
          </a:p>
          <a:p>
            <a:pPr algn="l" hangingPunct="1"/>
            <a:r>
              <a:rPr lang="en-GB" sz="2000" dirty="0">
                <a:solidFill>
                  <a:schemeClr val="tx1"/>
                </a:solidFill>
              </a:rPr>
              <a:t>Egg (liquid/Scrambled/Plain Muffin)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0AC0F0-37BA-ABDE-184F-D2C04F9CE099}"/>
              </a:ext>
            </a:extLst>
          </p:cNvPr>
          <p:cNvSpPr txBox="1"/>
          <p:nvPr/>
        </p:nvSpPr>
        <p:spPr>
          <a:xfrm>
            <a:off x="1533880" y="240867"/>
            <a:ext cx="5096859" cy="400108"/>
          </a:xfrm>
          <a:prstGeom prst="rect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sz="2000" b="1" dirty="0">
                <a:latin typeface="Segoe UI" panose="020B0502040204020203" pitchFamily="34" charset="0"/>
              </a:rPr>
              <a:t>To remember – Hazard: Biological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9D16F1B-F2C9-9F1F-C530-BBF527E86C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063484"/>
              </p:ext>
            </p:extLst>
          </p:nvPr>
        </p:nvGraphicFramePr>
        <p:xfrm>
          <a:off x="531221" y="1972287"/>
          <a:ext cx="5480230" cy="145671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26454">
                  <a:extLst>
                    <a:ext uri="{9D8B030D-6E8A-4147-A177-3AD203B41FA5}">
                      <a16:colId xmlns:a16="http://schemas.microsoft.com/office/drawing/2014/main" val="3976182901"/>
                    </a:ext>
                  </a:extLst>
                </a:gridCol>
                <a:gridCol w="1083219">
                  <a:extLst>
                    <a:ext uri="{9D8B030D-6E8A-4147-A177-3AD203B41FA5}">
                      <a16:colId xmlns:a16="http://schemas.microsoft.com/office/drawing/2014/main" val="4223221058"/>
                    </a:ext>
                  </a:extLst>
                </a:gridCol>
                <a:gridCol w="1073805">
                  <a:extLst>
                    <a:ext uri="{9D8B030D-6E8A-4147-A177-3AD203B41FA5}">
                      <a16:colId xmlns:a16="http://schemas.microsoft.com/office/drawing/2014/main" val="3204117237"/>
                    </a:ext>
                  </a:extLst>
                </a:gridCol>
                <a:gridCol w="1096752">
                  <a:extLst>
                    <a:ext uri="{9D8B030D-6E8A-4147-A177-3AD203B41FA5}">
                      <a16:colId xmlns:a16="http://schemas.microsoft.com/office/drawing/2014/main" val="2982937701"/>
                    </a:ext>
                  </a:extLst>
                </a:gridCol>
              </a:tblGrid>
              <a:tr h="168933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buNone/>
                        <a:tabLst>
                          <a:tab pos="129540" algn="l"/>
                          <a:tab pos="457200" algn="l"/>
                        </a:tabLst>
                      </a:pPr>
                      <a:r>
                        <a:rPr lang="en-GB" sz="1200" kern="100">
                          <a:effectLst/>
                        </a:rPr>
                        <a:t>Test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buNone/>
                        <a:tabLst>
                          <a:tab pos="129540" algn="l"/>
                          <a:tab pos="457200" algn="l"/>
                        </a:tabLst>
                      </a:pPr>
                      <a:r>
                        <a:rPr lang="en-GB" sz="1200" kern="100">
                          <a:effectLst/>
                        </a:rPr>
                        <a:t>Frequency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buNone/>
                        <a:tabLst>
                          <a:tab pos="129540" algn="l"/>
                          <a:tab pos="457200" algn="l"/>
                        </a:tabLst>
                      </a:pPr>
                      <a:r>
                        <a:rPr lang="en-GB" sz="1200" kern="100">
                          <a:effectLst/>
                        </a:rPr>
                        <a:t>Target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buNone/>
                        <a:tabLst>
                          <a:tab pos="129540" algn="l"/>
                          <a:tab pos="457200" algn="l"/>
                        </a:tabLst>
                      </a:pPr>
                      <a:r>
                        <a:rPr lang="en-GB" sz="1200" kern="100">
                          <a:effectLst/>
                        </a:rPr>
                        <a:t>Reject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37994123"/>
                  </a:ext>
                </a:extLst>
              </a:tr>
              <a:tr h="21463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buNone/>
                        <a:tabLst>
                          <a:tab pos="129540" algn="l"/>
                          <a:tab pos="457200" algn="l"/>
                        </a:tabLst>
                      </a:pPr>
                      <a:r>
                        <a:rPr lang="en-GB" sz="1200" kern="100">
                          <a:effectLst/>
                        </a:rPr>
                        <a:t>Total Viable Count                   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Per Batch</a:t>
                      </a:r>
                      <a:endParaRPr lang="en-GB" sz="1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buNone/>
                        <a:tabLst>
                          <a:tab pos="129540" algn="l"/>
                          <a:tab pos="457200" algn="l"/>
                        </a:tabLst>
                      </a:pPr>
                      <a:r>
                        <a:rPr lang="en-GB" sz="1200" kern="100">
                          <a:effectLst/>
                        </a:rPr>
                        <a:t>&lt;5,000/g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buNone/>
                        <a:tabLst>
                          <a:tab pos="129540" algn="l"/>
                          <a:tab pos="457200" algn="l"/>
                        </a:tabLst>
                      </a:pPr>
                      <a:r>
                        <a:rPr lang="en-GB" sz="1200" kern="100">
                          <a:effectLst/>
                        </a:rPr>
                        <a:t>10,000/g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2300941"/>
                  </a:ext>
                </a:extLst>
              </a:tr>
              <a:tr h="21463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buNone/>
                        <a:tabLst>
                          <a:tab pos="129540" algn="l"/>
                          <a:tab pos="457200" algn="l"/>
                        </a:tabLst>
                      </a:pPr>
                      <a:r>
                        <a:rPr lang="en-GB" sz="1200" kern="100">
                          <a:effectLst/>
                        </a:rPr>
                        <a:t>Presumptive Enterobacteriaceae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Per Batch</a:t>
                      </a:r>
                      <a:endParaRPr lang="en-GB" sz="1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buNone/>
                        <a:tabLst>
                          <a:tab pos="129540" algn="l"/>
                          <a:tab pos="457200" algn="l"/>
                        </a:tabLst>
                      </a:pPr>
                      <a:r>
                        <a:rPr lang="en-GB" sz="1200" kern="100">
                          <a:effectLst/>
                        </a:rPr>
                        <a:t>&lt;20/g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buNone/>
                        <a:tabLst>
                          <a:tab pos="129540" algn="l"/>
                          <a:tab pos="457200" algn="l"/>
                        </a:tabLst>
                      </a:pPr>
                      <a:r>
                        <a:rPr lang="en-GB" sz="1200" kern="100">
                          <a:effectLst/>
                        </a:rPr>
                        <a:t>20/g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66682734"/>
                  </a:ext>
                </a:extLst>
              </a:tr>
              <a:tr h="21463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buNone/>
                        <a:tabLst>
                          <a:tab pos="129540" algn="l"/>
                          <a:tab pos="457200" algn="l"/>
                        </a:tabLst>
                      </a:pPr>
                      <a:r>
                        <a:rPr lang="en-GB" sz="1200" kern="100">
                          <a:effectLst/>
                        </a:rPr>
                        <a:t>Presumptive Staph. Aureus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Per Batch</a:t>
                      </a:r>
                      <a:endParaRPr lang="en-GB" sz="1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buNone/>
                        <a:tabLst>
                          <a:tab pos="129540" algn="l"/>
                          <a:tab pos="457200" algn="l"/>
                        </a:tabLst>
                      </a:pPr>
                      <a:r>
                        <a:rPr lang="en-GB" sz="1200" kern="100">
                          <a:effectLst/>
                        </a:rPr>
                        <a:t>&lt;20/g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buNone/>
                        <a:tabLst>
                          <a:tab pos="129540" algn="l"/>
                          <a:tab pos="457200" algn="l"/>
                        </a:tabLst>
                      </a:pPr>
                      <a:r>
                        <a:rPr lang="en-GB" sz="1200" kern="100">
                          <a:effectLst/>
                        </a:rPr>
                        <a:t>20/g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85230022"/>
                  </a:ext>
                </a:extLst>
              </a:tr>
              <a:tr h="21463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buNone/>
                        <a:tabLst>
                          <a:tab pos="129540" algn="l"/>
                          <a:tab pos="457200" algn="l"/>
                        </a:tabLst>
                      </a:pPr>
                      <a:r>
                        <a:rPr lang="en-GB" sz="1200" kern="100">
                          <a:effectLst/>
                        </a:rPr>
                        <a:t>Salmonella sp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Per Batch</a:t>
                      </a:r>
                      <a:endParaRPr lang="en-GB" sz="1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buNone/>
                        <a:tabLst>
                          <a:tab pos="129540" algn="l"/>
                          <a:tab pos="457200" algn="l"/>
                        </a:tabLst>
                      </a:pPr>
                      <a:r>
                        <a:rPr lang="en-GB" sz="1200" kern="100">
                          <a:effectLst/>
                        </a:rPr>
                        <a:t>Absent in 25g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buNone/>
                        <a:tabLst>
                          <a:tab pos="129540" algn="l"/>
                          <a:tab pos="457200" algn="l"/>
                        </a:tabLst>
                      </a:pPr>
                      <a:r>
                        <a:rPr lang="en-GB" sz="1200" kern="100">
                          <a:effectLst/>
                        </a:rPr>
                        <a:t>Present in 25g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7540234"/>
                  </a:ext>
                </a:extLst>
              </a:tr>
              <a:tr h="21463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buNone/>
                        <a:tabLst>
                          <a:tab pos="129540" algn="l"/>
                          <a:tab pos="457200" algn="l"/>
                        </a:tabLst>
                      </a:pPr>
                      <a:r>
                        <a:rPr lang="en-GB" sz="1200" kern="100">
                          <a:effectLst/>
                        </a:rPr>
                        <a:t>Listeria sp                                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Per Batch</a:t>
                      </a:r>
                      <a:endParaRPr lang="en-GB" sz="1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buNone/>
                        <a:tabLst>
                          <a:tab pos="129540" algn="l"/>
                          <a:tab pos="457200" algn="l"/>
                        </a:tabLst>
                      </a:pPr>
                      <a:r>
                        <a:rPr lang="en-GB" sz="1200" kern="100">
                          <a:effectLst/>
                        </a:rPr>
                        <a:t>Absent in 25g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buNone/>
                        <a:tabLst>
                          <a:tab pos="129540" algn="l"/>
                          <a:tab pos="457200" algn="l"/>
                        </a:tabLst>
                      </a:pPr>
                      <a:r>
                        <a:rPr lang="en-GB" sz="1200" kern="100" dirty="0">
                          <a:effectLst/>
                        </a:rPr>
                        <a:t>Present in 25g</a:t>
                      </a:r>
                      <a:endParaRPr lang="en-GB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22923123"/>
                  </a:ext>
                </a:extLst>
              </a:tr>
              <a:tr h="21463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buNone/>
                        <a:tabLst>
                          <a:tab pos="129540" algn="l"/>
                          <a:tab pos="457200" algn="l"/>
                        </a:tabLst>
                      </a:pPr>
                      <a:r>
                        <a:rPr lang="en-GB" sz="1200" kern="100">
                          <a:effectLst/>
                        </a:rPr>
                        <a:t>Presumptive Bacillus Cereus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buNone/>
                        <a:tabLst>
                          <a:tab pos="129540" algn="l"/>
                          <a:tab pos="457200" algn="l"/>
                        </a:tabLst>
                      </a:pPr>
                      <a:r>
                        <a:rPr lang="en-GB" sz="1200" kern="100" dirty="0">
                          <a:effectLst/>
                        </a:rPr>
                        <a:t>Per Batch</a:t>
                      </a:r>
                      <a:endParaRPr lang="en-GB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buNone/>
                        <a:tabLst>
                          <a:tab pos="129540" algn="l"/>
                          <a:tab pos="457200" algn="l"/>
                        </a:tabLst>
                      </a:pPr>
                      <a:r>
                        <a:rPr lang="en-GB" sz="1200" kern="100">
                          <a:effectLst/>
                        </a:rPr>
                        <a:t>&lt;100/g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buNone/>
                        <a:tabLst>
                          <a:tab pos="129540" algn="l"/>
                          <a:tab pos="457200" algn="l"/>
                        </a:tabLst>
                      </a:pPr>
                      <a:r>
                        <a:rPr lang="en-GB" sz="1200" kern="100" dirty="0">
                          <a:effectLst/>
                        </a:rPr>
                        <a:t>&gt;500/g</a:t>
                      </a:r>
                      <a:endParaRPr lang="en-GB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86691118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E49ACE6-637E-722F-98CB-837CD357D291}"/>
              </a:ext>
            </a:extLst>
          </p:cNvPr>
          <p:cNvSpPr/>
          <p:nvPr/>
        </p:nvSpPr>
        <p:spPr>
          <a:xfrm>
            <a:off x="6894786" y="203341"/>
            <a:ext cx="2246711" cy="923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Logo</a:t>
            </a:r>
            <a:endParaRPr lang="en-US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3433B6-BC44-04F1-C9FD-FD31B96F0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27" y="4539135"/>
            <a:ext cx="2077998" cy="207799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hought Bubble: Cloud 3">
            <a:extLst>
              <a:ext uri="{FF2B5EF4-FFF2-40B4-BE49-F238E27FC236}">
                <a16:creationId xmlns:a16="http://schemas.microsoft.com/office/drawing/2014/main" id="{E90CBF3E-5CA9-FB13-B612-912455C5A570}"/>
              </a:ext>
            </a:extLst>
          </p:cNvPr>
          <p:cNvSpPr/>
          <p:nvPr/>
        </p:nvSpPr>
        <p:spPr>
          <a:xfrm>
            <a:off x="3761704" y="3414710"/>
            <a:ext cx="4851075" cy="2248849"/>
          </a:xfrm>
          <a:prstGeom prst="cloudCallout">
            <a:avLst>
              <a:gd name="adj1" fmla="val -79689"/>
              <a:gd name="adj2" fmla="val 30918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Can you name 3 examples of a bacteria/virus you need to avoid the most in your workplace?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893119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2E5C1-326B-7A87-0A02-256D35D0B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37B506-8921-5C71-EFBA-ACF919E8ED81}"/>
              </a:ext>
            </a:extLst>
          </p:cNvPr>
          <p:cNvSpPr txBox="1"/>
          <p:nvPr/>
        </p:nvSpPr>
        <p:spPr>
          <a:xfrm>
            <a:off x="4336687" y="1008630"/>
            <a:ext cx="3102660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/>
            <a:endParaRPr lang="en-GB" sz="1100" dirty="0">
              <a:effectLst/>
              <a:latin typeface="Calibri" panose="020F0502020204030204" pitchFamily="34" charset="0"/>
              <a:ea typeface="Droid Sans Fallback"/>
              <a:cs typeface="Times New Roman" panose="02020603050405020304" pitchFamily="18" charset="0"/>
            </a:endParaRPr>
          </a:p>
          <a:p>
            <a:endParaRPr lang="en-GB" sz="1100" dirty="0">
              <a:effectLst/>
              <a:latin typeface="Calibri" panose="020F0502020204030204" pitchFamily="34" charset="0"/>
              <a:ea typeface="Droid Sans Fallback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02C29B-3EDB-ADAA-E8C1-2F77B1C9A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68" y="1428692"/>
            <a:ext cx="4252304" cy="407512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EC6E62-5E04-13D0-6365-CE4F079C1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618" y="2403566"/>
            <a:ext cx="4246149" cy="3898404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DB52C34-8288-EB6A-A387-80A41B6D96F9}"/>
              </a:ext>
            </a:extLst>
          </p:cNvPr>
          <p:cNvSpPr txBox="1"/>
          <p:nvPr/>
        </p:nvSpPr>
        <p:spPr>
          <a:xfrm>
            <a:off x="1742954" y="166647"/>
            <a:ext cx="5096859" cy="400108"/>
          </a:xfrm>
          <a:prstGeom prst="rect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sz="2000" b="1" dirty="0">
                <a:latin typeface="Segoe UI" panose="020B0502040204020203" pitchFamily="34" charset="0"/>
              </a:rPr>
              <a:t>To remember – Personal Hygiene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9E8A5D-843D-3CAC-2E25-F88E0615FFF0}"/>
              </a:ext>
            </a:extLst>
          </p:cNvPr>
          <p:cNvSpPr txBox="1"/>
          <p:nvPr/>
        </p:nvSpPr>
        <p:spPr>
          <a:xfrm>
            <a:off x="5316583" y="1406806"/>
            <a:ext cx="2957405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lvl="0" algn="ctr"/>
            <a:r>
              <a:rPr lang="en-GB" sz="2800" b="1" dirty="0">
                <a:latin typeface="+mn-ea"/>
                <a:cs typeface="Poppins Medium" panose="020B0604020202020204" pitchFamily="34" charset="0"/>
              </a:rPr>
              <a:t>Hands Washing </a:t>
            </a:r>
            <a:endParaRPr lang="en-GB" sz="2800" b="1" dirty="0"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B0F3FA-14D1-911E-EBDE-2AB2FFDE5CDB}"/>
              </a:ext>
            </a:extLst>
          </p:cNvPr>
          <p:cNvSpPr/>
          <p:nvPr/>
        </p:nvSpPr>
        <p:spPr>
          <a:xfrm>
            <a:off x="6894786" y="203341"/>
            <a:ext cx="2246711" cy="923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Logo</a:t>
            </a:r>
            <a:endParaRPr lang="en-US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5190810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2FE28-874E-E306-A00A-C4D554126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380848-4DA4-F63B-3E0D-B84C316F2101}"/>
              </a:ext>
            </a:extLst>
          </p:cNvPr>
          <p:cNvSpPr txBox="1"/>
          <p:nvPr/>
        </p:nvSpPr>
        <p:spPr>
          <a:xfrm>
            <a:off x="3035087" y="873395"/>
            <a:ext cx="2799806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lvl="0"/>
            <a:r>
              <a:rPr lang="en-GB" sz="2800" b="1" dirty="0">
                <a:latin typeface="+mn-ea"/>
                <a:cs typeface="Poppins Medium" panose="020B0604020202020204" pitchFamily="34" charset="0"/>
              </a:rPr>
              <a:t>Hands Washing </a:t>
            </a:r>
            <a:endParaRPr lang="en-GB" sz="2800" b="1" dirty="0">
              <a:effectLst/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F923C6-5EEF-DFFB-293F-456C3403C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446" y="1747043"/>
            <a:ext cx="6273105" cy="43950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E7DE35-4990-34B4-0A13-9EB2E697CECD}"/>
              </a:ext>
            </a:extLst>
          </p:cNvPr>
          <p:cNvSpPr txBox="1"/>
          <p:nvPr/>
        </p:nvSpPr>
        <p:spPr>
          <a:xfrm>
            <a:off x="1742954" y="166647"/>
            <a:ext cx="5096859" cy="400108"/>
          </a:xfrm>
          <a:prstGeom prst="rect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sz="2000" b="1" dirty="0">
                <a:latin typeface="Segoe UI" panose="020B0502040204020203" pitchFamily="34" charset="0"/>
              </a:rPr>
              <a:t>To remember – Personal Hygiene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99083A-2D92-1742-2066-F4AA07AC60C1}"/>
              </a:ext>
            </a:extLst>
          </p:cNvPr>
          <p:cNvSpPr/>
          <p:nvPr/>
        </p:nvSpPr>
        <p:spPr>
          <a:xfrm>
            <a:off x="6894786" y="203341"/>
            <a:ext cx="2246711" cy="923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Logo</a:t>
            </a:r>
            <a:endParaRPr lang="en-US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34916004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1FCA4-58CA-E12D-D15A-43026D253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45959E9-A0FD-6592-40FF-AE399E5FA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07589">
            <a:off x="256287" y="5416166"/>
            <a:ext cx="830019" cy="12914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AF2D29F-05C6-40FF-099A-8ACBABA0A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7767513">
            <a:off x="3605552" y="5718001"/>
            <a:ext cx="1171340" cy="6837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BAEB35B-4DE1-121E-D6CA-AE5EDF7FBD46}"/>
              </a:ext>
            </a:extLst>
          </p:cNvPr>
          <p:cNvSpPr/>
          <p:nvPr/>
        </p:nvSpPr>
        <p:spPr>
          <a:xfrm>
            <a:off x="0" y="4963772"/>
            <a:ext cx="1701343" cy="369330"/>
          </a:xfrm>
          <a:prstGeom prst="rect">
            <a:avLst/>
          </a:prstGeom>
          <a:solidFill>
            <a:srgbClr val="72CAEE"/>
          </a:solidFill>
          <a:ln w="25400" cap="flat">
            <a:solidFill>
              <a:srgbClr val="72CAEE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Low Risk areas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90A909-A08B-CBD4-BA42-1BCBDB87B7AE}"/>
              </a:ext>
            </a:extLst>
          </p:cNvPr>
          <p:cNvSpPr/>
          <p:nvPr/>
        </p:nvSpPr>
        <p:spPr>
          <a:xfrm>
            <a:off x="3439751" y="4958084"/>
            <a:ext cx="1701343" cy="369330"/>
          </a:xfrm>
          <a:prstGeom prst="rect">
            <a:avLst/>
          </a:prstGeom>
          <a:solidFill>
            <a:srgbClr val="00B050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High-Risk areas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078ECFE-C63A-3EF4-15E4-7D9CEC0D08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213027">
            <a:off x="1971978" y="5641451"/>
            <a:ext cx="1241034" cy="7440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88204F1-21AF-B1C3-264D-6328D273D776}"/>
              </a:ext>
            </a:extLst>
          </p:cNvPr>
          <p:cNvSpPr/>
          <p:nvPr/>
        </p:nvSpPr>
        <p:spPr>
          <a:xfrm>
            <a:off x="1738408" y="4958084"/>
            <a:ext cx="1701343" cy="369330"/>
          </a:xfrm>
          <a:prstGeom prst="rect">
            <a:avLst/>
          </a:prstGeom>
          <a:solidFill>
            <a:srgbClr val="FF0000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High-Care areas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5BF3BF-23F2-2AB0-0343-50FBD253713B}"/>
              </a:ext>
            </a:extLst>
          </p:cNvPr>
          <p:cNvSpPr txBox="1"/>
          <p:nvPr/>
        </p:nvSpPr>
        <p:spPr>
          <a:xfrm>
            <a:off x="153498" y="177911"/>
            <a:ext cx="5570646" cy="369330"/>
          </a:xfrm>
          <a:prstGeom prst="rect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lvl="0"/>
            <a:r>
              <a:rPr lang="en-GB" b="1" dirty="0">
                <a:solidFill>
                  <a:schemeClr val="tx1"/>
                </a:solidFill>
                <a:effectLst/>
                <a:latin typeface="+mn-ea"/>
                <a:cs typeface="Poppins Medium" panose="020B0604020202020204" pitchFamily="34" charset="0"/>
              </a:rPr>
              <a:t>Sanitise goods before entry in the HC and HR areas </a:t>
            </a:r>
            <a:endParaRPr lang="en-GB" b="1" dirty="0">
              <a:solidFill>
                <a:schemeClr val="tx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1E0045-07C2-93EF-8018-DBEDC65B7598}"/>
              </a:ext>
            </a:extLst>
          </p:cNvPr>
          <p:cNvSpPr txBox="1"/>
          <p:nvPr/>
        </p:nvSpPr>
        <p:spPr>
          <a:xfrm>
            <a:off x="977225" y="3131364"/>
            <a:ext cx="2691169" cy="13234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lvl="0" algn="ctr"/>
            <a:r>
              <a:rPr lang="en-GB" sz="1600" b="1" dirty="0">
                <a:solidFill>
                  <a:schemeClr val="tx1"/>
                </a:solidFill>
                <a:effectLst/>
                <a:latin typeface="+mn-ea"/>
                <a:cs typeface="Poppins Medium" panose="020B0604020202020204" pitchFamily="34" charset="0"/>
              </a:rPr>
              <a:t>Phone is permitted only for authorised personnel </a:t>
            </a:r>
          </a:p>
          <a:p>
            <a:pPr lvl="0"/>
            <a:endParaRPr lang="en-GB" sz="1600" b="1" dirty="0">
              <a:solidFill>
                <a:srgbClr val="FE0000"/>
              </a:solidFill>
              <a:latin typeface="+mn-ea"/>
              <a:cs typeface="Poppins Medium" panose="020B0604020202020204" pitchFamily="34" charset="0"/>
            </a:endParaRPr>
          </a:p>
          <a:p>
            <a:pPr lvl="0" algn="ctr"/>
            <a:r>
              <a:rPr lang="en-GB" sz="1600" b="1" dirty="0">
                <a:solidFill>
                  <a:schemeClr val="tx1"/>
                </a:solidFill>
                <a:effectLst/>
                <a:latin typeface="+mn-ea"/>
                <a:cs typeface="Poppins Medium" panose="020B0604020202020204" pitchFamily="34" charset="0"/>
              </a:rPr>
              <a:t>It </a:t>
            </a:r>
            <a:r>
              <a:rPr lang="en-GB" sz="1600" b="1" dirty="0">
                <a:solidFill>
                  <a:srgbClr val="FF0000"/>
                </a:solidFill>
                <a:effectLst/>
                <a:latin typeface="+mn-ea"/>
                <a:cs typeface="Poppins Medium" panose="020B0604020202020204" pitchFamily="34" charset="0"/>
              </a:rPr>
              <a:t>MUST</a:t>
            </a:r>
            <a:r>
              <a:rPr lang="en-GB" sz="1600" b="1" dirty="0">
                <a:solidFill>
                  <a:schemeClr val="tx1"/>
                </a:solidFill>
                <a:effectLst/>
                <a:latin typeface="+mn-ea"/>
                <a:cs typeface="Poppins Medium" panose="020B0604020202020204" pitchFamily="34" charset="0"/>
              </a:rPr>
              <a:t> be </a:t>
            </a:r>
            <a:r>
              <a:rPr lang="en-GB" sz="1600" b="1" dirty="0">
                <a:solidFill>
                  <a:srgbClr val="FF0000"/>
                </a:solidFill>
                <a:effectLst/>
                <a:latin typeface="+mn-ea"/>
                <a:cs typeface="Poppins Medium" panose="020B0604020202020204" pitchFamily="34" charset="0"/>
              </a:rPr>
              <a:t>sanitised</a:t>
            </a:r>
            <a:r>
              <a:rPr lang="en-GB" sz="1600" b="1" dirty="0">
                <a:solidFill>
                  <a:schemeClr val="tx1"/>
                </a:solidFill>
                <a:effectLst/>
                <a:latin typeface="+mn-ea"/>
                <a:cs typeface="Poppins Medium" panose="020B0604020202020204" pitchFamily="34" charset="0"/>
              </a:rPr>
              <a:t> before entering the HC and HR areas.  </a:t>
            </a:r>
            <a:endParaRPr lang="en-GB" sz="1600" b="1" dirty="0">
              <a:solidFill>
                <a:schemeClr val="tx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A1BA58-5F0E-ED0A-8562-240BDEBB6823}"/>
              </a:ext>
            </a:extLst>
          </p:cNvPr>
          <p:cNvSpPr txBox="1"/>
          <p:nvPr/>
        </p:nvSpPr>
        <p:spPr>
          <a:xfrm>
            <a:off x="5521972" y="5290739"/>
            <a:ext cx="2639627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lvl="0"/>
            <a:r>
              <a:rPr lang="en-GB" b="1" dirty="0">
                <a:solidFill>
                  <a:srgbClr val="00B050"/>
                </a:solidFill>
                <a:effectLst/>
                <a:latin typeface="+mn-ea"/>
                <a:cs typeface="Poppins Medium" panose="020B0604020202020204" pitchFamily="34" charset="0"/>
              </a:rPr>
              <a:t>Green Pen</a:t>
            </a:r>
            <a:r>
              <a:rPr lang="en-GB" b="1" dirty="0">
                <a:solidFill>
                  <a:schemeClr val="tx1"/>
                </a:solidFill>
                <a:effectLst/>
                <a:latin typeface="+mn-ea"/>
                <a:cs typeface="Poppins Medium" panose="020B0604020202020204" pitchFamily="34" charset="0"/>
              </a:rPr>
              <a:t>: High-Risk area </a:t>
            </a:r>
          </a:p>
          <a:p>
            <a:pPr lvl="0"/>
            <a:r>
              <a:rPr lang="en-GB" b="1" dirty="0">
                <a:solidFill>
                  <a:srgbClr val="FF0000"/>
                </a:solidFill>
                <a:latin typeface="+mn-ea"/>
                <a:cs typeface="Poppins Medium" panose="020B0604020202020204" pitchFamily="34" charset="0"/>
              </a:rPr>
              <a:t>Red Pen</a:t>
            </a:r>
            <a:r>
              <a:rPr lang="en-GB" b="1" dirty="0">
                <a:solidFill>
                  <a:schemeClr val="tx1"/>
                </a:solidFill>
                <a:latin typeface="+mn-ea"/>
                <a:cs typeface="Poppins Medium" panose="020B0604020202020204" pitchFamily="34" charset="0"/>
              </a:rPr>
              <a:t>: High-Care areas</a:t>
            </a:r>
          </a:p>
          <a:p>
            <a:pPr lvl="0"/>
            <a:r>
              <a:rPr lang="en-GB" b="1" dirty="0">
                <a:solidFill>
                  <a:srgbClr val="00B0F0"/>
                </a:solidFill>
                <a:latin typeface="+mn-ea"/>
                <a:cs typeface="Poppins Medium" panose="020B0604020202020204" pitchFamily="34" charset="0"/>
              </a:rPr>
              <a:t>Blue Pen</a:t>
            </a:r>
            <a:r>
              <a:rPr lang="en-GB" b="1" dirty="0">
                <a:solidFill>
                  <a:schemeClr val="tx1"/>
                </a:solidFill>
                <a:latin typeface="+mn-ea"/>
                <a:cs typeface="Poppins Medium" panose="020B0604020202020204" pitchFamily="34" charset="0"/>
              </a:rPr>
              <a:t>: Low-risk areas </a:t>
            </a:r>
          </a:p>
          <a:p>
            <a:pPr lvl="0"/>
            <a:endParaRPr lang="en-GB" b="1" dirty="0">
              <a:solidFill>
                <a:schemeClr val="tx1"/>
              </a:solidFill>
              <a:effectLst/>
              <a:latin typeface="+mn-ea"/>
              <a:cs typeface="Poppins Medium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22714C-6778-4973-5F4E-14D7B508365B}"/>
              </a:ext>
            </a:extLst>
          </p:cNvPr>
          <p:cNvSpPr/>
          <p:nvPr/>
        </p:nvSpPr>
        <p:spPr>
          <a:xfrm>
            <a:off x="244350" y="912835"/>
            <a:ext cx="9023430" cy="551643"/>
          </a:xfrm>
          <a:prstGeom prst="rect">
            <a:avLst/>
          </a:prstGeom>
          <a:solidFill>
            <a:srgbClr val="72CAEE"/>
          </a:solidFill>
          <a:ln w="25400" cap="flat">
            <a:solidFill>
              <a:srgbClr val="72CAEE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F9D407-D240-01FF-6F82-01AC1A3DED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386" y="1089485"/>
            <a:ext cx="2669008" cy="18652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&quot;Not Allowed&quot; Symbol 5">
            <a:extLst>
              <a:ext uri="{FF2B5EF4-FFF2-40B4-BE49-F238E27FC236}">
                <a16:creationId xmlns:a16="http://schemas.microsoft.com/office/drawing/2014/main" id="{FCF0DEEF-7757-0446-1D2D-853D23485F55}"/>
              </a:ext>
            </a:extLst>
          </p:cNvPr>
          <p:cNvSpPr/>
          <p:nvPr/>
        </p:nvSpPr>
        <p:spPr>
          <a:xfrm flipH="1">
            <a:off x="1439593" y="1188656"/>
            <a:ext cx="1655641" cy="1740767"/>
          </a:xfrm>
          <a:prstGeom prst="noSmoking">
            <a:avLst>
              <a:gd name="adj" fmla="val 5245"/>
            </a:avLst>
          </a:prstGeom>
          <a:solidFill>
            <a:srgbClr val="FE0000">
              <a:alpha val="49020"/>
            </a:srgbClr>
          </a:solidFill>
          <a:ln w="25400" cap="flat">
            <a:solidFill>
              <a:srgbClr val="FE0000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spc="0" normalizeH="0" baseline="0" dirty="0"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979470C-CCAE-58E4-11AD-2EF64B6B73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0539" y="1060143"/>
            <a:ext cx="2564118" cy="18945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1E7F9A7-DEA2-D78C-B0D2-822BEC7EE882}"/>
              </a:ext>
            </a:extLst>
          </p:cNvPr>
          <p:cNvSpPr txBox="1"/>
          <p:nvPr/>
        </p:nvSpPr>
        <p:spPr>
          <a:xfrm>
            <a:off x="4924218" y="3296286"/>
            <a:ext cx="3835133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lvl="0" algn="ctr"/>
            <a:r>
              <a:rPr lang="en-US" sz="1600" b="1" dirty="0">
                <a:solidFill>
                  <a:schemeClr val="tx1"/>
                </a:solidFill>
                <a:latin typeface="+mn-ea"/>
                <a:cs typeface="Poppins Medium" panose="020B0604020202020204" pitchFamily="34" charset="0"/>
              </a:rPr>
              <a:t>For tablets, pens, and any other materials that cannot be wet, use the </a:t>
            </a:r>
            <a:r>
              <a:rPr lang="en-GB" sz="1600" b="1" dirty="0">
                <a:solidFill>
                  <a:srgbClr val="FF0000"/>
                </a:solidFill>
                <a:effectLst/>
                <a:latin typeface="+mn-ea"/>
                <a:cs typeface="Poppins Medium" panose="020B0604020202020204" pitchFamily="34" charset="0"/>
              </a:rPr>
              <a:t>sanitised wipes before entering the HC and HR areas.  </a:t>
            </a:r>
            <a:endParaRPr lang="en-GB" sz="1600" b="1" dirty="0">
              <a:solidFill>
                <a:srgbClr val="FF0000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25486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D6599-1660-ACCD-97C1-74629C25B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17FA4A6-A5B8-7915-4FE9-6A852C819A5A}"/>
              </a:ext>
            </a:extLst>
          </p:cNvPr>
          <p:cNvSpPr/>
          <p:nvPr/>
        </p:nvSpPr>
        <p:spPr>
          <a:xfrm>
            <a:off x="6798656" y="5530812"/>
            <a:ext cx="3328416" cy="374944"/>
          </a:xfrm>
          <a:prstGeom prst="rect">
            <a:avLst/>
          </a:prstGeom>
          <a:solidFill>
            <a:srgbClr val="72CAEE"/>
          </a:solidFill>
          <a:ln w="25400" cap="flat">
            <a:solidFill>
              <a:srgbClr val="72CAEE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18CC9-D212-E6C8-8E14-20444F0396A8}"/>
              </a:ext>
            </a:extLst>
          </p:cNvPr>
          <p:cNvSpPr txBox="1"/>
          <p:nvPr/>
        </p:nvSpPr>
        <p:spPr>
          <a:xfrm>
            <a:off x="1533880" y="240867"/>
            <a:ext cx="5096859" cy="400108"/>
          </a:xfrm>
          <a:prstGeom prst="rect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sz="2000" b="1" dirty="0">
                <a:latin typeface="Segoe UI" panose="020B0502040204020203" pitchFamily="34" charset="0"/>
              </a:rPr>
              <a:t>PRE-REQUISITE PROGRAMME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BF825B-7FD5-A12E-BFE7-5787C4CB6DAF}"/>
              </a:ext>
            </a:extLst>
          </p:cNvPr>
          <p:cNvSpPr txBox="1"/>
          <p:nvPr/>
        </p:nvSpPr>
        <p:spPr>
          <a:xfrm>
            <a:off x="263852" y="731069"/>
            <a:ext cx="8616295" cy="70714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1" dirty="0"/>
              <a:t>Prerequisite Programs (PRPs) </a:t>
            </a:r>
            <a:r>
              <a:rPr lang="en-GB" sz="1600" dirty="0"/>
              <a:t>are the foundational hygiene, environmental, </a:t>
            </a:r>
          </a:p>
          <a:p>
            <a:pPr>
              <a:lnSpc>
                <a:spcPct val="150000"/>
              </a:lnSpc>
            </a:pPr>
            <a:r>
              <a:rPr lang="en-GB" sz="1600" dirty="0"/>
              <a:t>and operational practices required before implementing a HACCP (Hazard Analysis and Critical Control Point) system. They establish a safe operating environment by managing general risks, so the HACCP team can focus on specific, critical hazards. PRPs key points:</a:t>
            </a:r>
          </a:p>
          <a:p>
            <a:pPr>
              <a:lnSpc>
                <a:spcPct val="150000"/>
              </a:lnSpc>
            </a:pPr>
            <a:r>
              <a:rPr lang="en-GB" sz="1600" b="1" dirty="0"/>
              <a:t>1. Cleaning and Sanitation:</a:t>
            </a:r>
            <a:r>
              <a:rPr lang="en-GB" sz="1600" dirty="0"/>
              <a:t> Procedures for regularly cleaning and sanitising surfaces, equipment, and utensils.</a:t>
            </a:r>
          </a:p>
          <a:p>
            <a:pPr>
              <a:lnSpc>
                <a:spcPct val="150000"/>
              </a:lnSpc>
            </a:pPr>
            <a:r>
              <a:rPr lang="en-GB" sz="1600" b="1" dirty="0"/>
              <a:t>2. Personal Hygiene:</a:t>
            </a:r>
            <a:r>
              <a:rPr lang="en-GB" sz="1600" dirty="0"/>
              <a:t> Requirements for handwashing, protective clothing, and health monitoring of employees.</a:t>
            </a:r>
          </a:p>
          <a:p>
            <a:pPr>
              <a:lnSpc>
                <a:spcPct val="150000"/>
              </a:lnSpc>
            </a:pPr>
            <a:r>
              <a:rPr lang="en-GB" sz="1600" b="1" dirty="0"/>
              <a:t>3. Pest Control:</a:t>
            </a:r>
            <a:r>
              <a:rPr lang="en-GB" sz="1600" dirty="0"/>
              <a:t> Preventative measures and regular inspections to keep the production area free of pests.</a:t>
            </a:r>
          </a:p>
          <a:p>
            <a:pPr>
              <a:lnSpc>
                <a:spcPct val="150000"/>
              </a:lnSpc>
            </a:pPr>
            <a:r>
              <a:rPr lang="en-GB" sz="1600" b="1" dirty="0"/>
              <a:t>4. Equipment and Premises Maintenance:</a:t>
            </a:r>
            <a:r>
              <a:rPr lang="en-GB" sz="1600" dirty="0"/>
              <a:t> Keeping facilities and machinery in good working order to prevent contamination or breakdowns.</a:t>
            </a:r>
          </a:p>
          <a:p>
            <a:pPr>
              <a:lnSpc>
                <a:spcPct val="150000"/>
              </a:lnSpc>
            </a:pPr>
            <a:r>
              <a:rPr lang="en-GB" sz="1600" b="1" dirty="0"/>
              <a:t>5. Supplier Control:</a:t>
            </a:r>
            <a:r>
              <a:rPr lang="en-GB" sz="1600" dirty="0"/>
              <a:t> Ensuring ingredients are sourced from reputable suppliers that meet safety standards.</a:t>
            </a:r>
          </a:p>
          <a:p>
            <a:pPr>
              <a:lnSpc>
                <a:spcPct val="150000"/>
              </a:lnSpc>
            </a:pPr>
            <a:r>
              <a:rPr lang="en-GB" sz="1600" b="1" dirty="0"/>
              <a:t>6. Allergen Management:</a:t>
            </a:r>
            <a:r>
              <a:rPr lang="en-GB" sz="1600" dirty="0"/>
              <a:t> Segregation and handling rules to protect customers from cross-contact.</a:t>
            </a:r>
          </a:p>
          <a:p>
            <a:pPr>
              <a:lnSpc>
                <a:spcPct val="150000"/>
              </a:lnSpc>
            </a:pPr>
            <a:r>
              <a:rPr lang="en-GB" sz="1600" b="1" dirty="0"/>
              <a:t>7. Staff Training:</a:t>
            </a:r>
            <a:r>
              <a:rPr lang="en-GB" sz="1600" dirty="0"/>
              <a:t> Ensuring all workers understand basic food hygiene and their role in safety.</a:t>
            </a:r>
          </a:p>
          <a:p>
            <a:pPr>
              <a:lnSpc>
                <a:spcPct val="150000"/>
              </a:lnSpc>
            </a:pPr>
            <a:endParaRPr lang="en-GB" sz="1600" dirty="0"/>
          </a:p>
          <a:p>
            <a:pPr>
              <a:lnSpc>
                <a:spcPct val="150000"/>
              </a:lnSpc>
            </a:pPr>
            <a:endParaRPr lang="en-GB" sz="1600" dirty="0"/>
          </a:p>
          <a:p>
            <a:pPr>
              <a:lnSpc>
                <a:spcPct val="150000"/>
              </a:lnSpc>
            </a:pPr>
            <a:endParaRPr lang="en-GB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11B965-5230-3780-BCA2-3D0A895A0D88}"/>
              </a:ext>
            </a:extLst>
          </p:cNvPr>
          <p:cNvSpPr/>
          <p:nvPr/>
        </p:nvSpPr>
        <p:spPr>
          <a:xfrm>
            <a:off x="6894786" y="203341"/>
            <a:ext cx="2246711" cy="923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Logo</a:t>
            </a:r>
            <a:endParaRPr lang="en-US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45557842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6FA5F-01D6-D1AD-6822-AE69659E5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9FEB27-26E3-AD50-CBB3-7645836B2355}"/>
              </a:ext>
            </a:extLst>
          </p:cNvPr>
          <p:cNvSpPr/>
          <p:nvPr/>
        </p:nvSpPr>
        <p:spPr>
          <a:xfrm>
            <a:off x="0" y="6563730"/>
            <a:ext cx="9144000" cy="719327"/>
          </a:xfrm>
          <a:prstGeom prst="rect">
            <a:avLst/>
          </a:prstGeom>
          <a:solidFill>
            <a:srgbClr val="72CAEE"/>
          </a:solidFill>
          <a:ln w="25400" cap="flat">
            <a:solidFill>
              <a:srgbClr val="72CAEE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81E1927-2452-218F-911C-D0151FA301C9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243840" y="972976"/>
            <a:ext cx="8534399" cy="5003820"/>
          </a:xfrm>
          <a:prstGeom prst="rect">
            <a:avLst/>
          </a:prstGeom>
        </p:spPr>
        <p:txBody>
          <a:bodyPr>
            <a:noAutofit/>
          </a:bodyPr>
          <a:lstStyle>
            <a:lvl1pPr marL="342900" marR="0" indent="-3429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83771" marR="0" indent="-326571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19200" marR="0" indent="-3048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373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945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517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1089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661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233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400" b="1" dirty="0"/>
              <a:t>C</a:t>
            </a:r>
            <a:r>
              <a:rPr lang="en-GB" sz="1400" b="1" dirty="0"/>
              <a:t>ross-contamination</a:t>
            </a:r>
            <a:r>
              <a:rPr lang="en-GB" sz="1400" dirty="0"/>
              <a:t>: strictly separate raw and ready-to-eat foods. Key steps include using distinct 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400" dirty="0" err="1"/>
              <a:t>colour</a:t>
            </a:r>
            <a:r>
              <a:rPr lang="en-US" sz="1400" dirty="0"/>
              <a:t>-coded chopping boards, knives, and gloves. Washing your hands with soap and water, and </a:t>
            </a:r>
            <a:r>
              <a:rPr lang="en-US" sz="1400" dirty="0" err="1"/>
              <a:t>sanitising</a:t>
            </a:r>
            <a:r>
              <a:rPr lang="en-GB" sz="1400" dirty="0"/>
              <a:t> surfaces before and after preparing meals.</a:t>
            </a:r>
            <a:r>
              <a:rPr lang="en-US" sz="1400" dirty="0"/>
              <a:t> 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endParaRPr lang="en-US" sz="1400" dirty="0"/>
          </a:p>
          <a:p>
            <a:pPr marL="0" lvl="1" indent="0">
              <a:buNone/>
            </a:pPr>
            <a:r>
              <a:rPr lang="en-GB" sz="1400" b="1" dirty="0">
                <a:latin typeface="Google Sans"/>
              </a:rPr>
              <a:t>Separate Equipment: </a:t>
            </a:r>
            <a:r>
              <a:rPr lang="en-GB" sz="1400" dirty="0">
                <a:latin typeface="Google Sans"/>
              </a:rPr>
              <a:t>such as knives</a:t>
            </a:r>
            <a:r>
              <a:rPr lang="en-US" sz="1400" dirty="0">
                <a:latin typeface="Google Sans"/>
              </a:rPr>
              <a:t> and chopping boards; use the same equipment on different schedules; and always clean and sanitise after use, including </a:t>
            </a:r>
            <a:r>
              <a:rPr lang="en-GB" sz="1400" dirty="0">
                <a:latin typeface="Google Sans"/>
              </a:rPr>
              <a:t>between recipes containing allergens. </a:t>
            </a:r>
          </a:p>
          <a:p>
            <a:pPr marL="0" lvl="1" indent="0">
              <a:buNone/>
            </a:pPr>
            <a:endParaRPr lang="en-GB" sz="1400" dirty="0"/>
          </a:p>
          <a:p>
            <a:pPr marL="0" lvl="1" indent="0">
              <a:buNone/>
            </a:pPr>
            <a:r>
              <a:rPr lang="en-GB" sz="1400" b="1" dirty="0">
                <a:latin typeface="Google Sans"/>
              </a:rPr>
              <a:t>Safe Storage:</a:t>
            </a:r>
            <a:r>
              <a:rPr lang="en-GB" sz="1400" dirty="0">
                <a:latin typeface="Google Sans"/>
              </a:rPr>
              <a:t> Keep raw food separated from the ready-to-eat food. Meat </a:t>
            </a:r>
            <a:r>
              <a:rPr lang="en-US" sz="1400" dirty="0">
                <a:latin typeface="Google Sans"/>
              </a:rPr>
              <a:t>separate from vegetables, and allergen products </a:t>
            </a:r>
            <a:r>
              <a:rPr lang="en-GB" sz="1400" dirty="0">
                <a:latin typeface="Google Sans"/>
              </a:rPr>
              <a:t>separate from non-allergen products. Keep the ingredients in sealed containers at all times (frozen and defrosted). </a:t>
            </a:r>
          </a:p>
          <a:p>
            <a:pPr marL="0" lvl="1" indent="0">
              <a:buNone/>
            </a:pPr>
            <a:r>
              <a:rPr lang="en-GB" sz="1400" dirty="0">
                <a:latin typeface="Google Sans"/>
              </a:rPr>
              <a:t>All the ingredients </a:t>
            </a:r>
            <a:r>
              <a:rPr lang="en-GB" sz="1400" b="1" dirty="0">
                <a:solidFill>
                  <a:srgbClr val="FF0000"/>
                </a:solidFill>
                <a:latin typeface="Google Sans"/>
              </a:rPr>
              <a:t>MUST have a label containing: </a:t>
            </a:r>
          </a:p>
          <a:p>
            <a:pPr marL="285750" lvl="1" indent="-285750">
              <a:buFontTx/>
              <a:buChar char="-"/>
            </a:pPr>
            <a:r>
              <a:rPr lang="en-GB" sz="1400" dirty="0">
                <a:latin typeface="Google Sans"/>
              </a:rPr>
              <a:t>Ingredient name: </a:t>
            </a:r>
          </a:p>
          <a:p>
            <a:pPr marL="285750" lvl="1" indent="-285750">
              <a:buFontTx/>
              <a:buChar char="-"/>
            </a:pPr>
            <a:r>
              <a:rPr lang="en-GB" sz="1400" dirty="0">
                <a:latin typeface="Google Sans"/>
              </a:rPr>
              <a:t>Date of defrosted (or date of open)</a:t>
            </a:r>
          </a:p>
          <a:p>
            <a:pPr marL="285750" lvl="1" indent="-285750">
              <a:buFontTx/>
              <a:buChar char="-"/>
            </a:pPr>
            <a:r>
              <a:rPr lang="en-GB" sz="1400" dirty="0">
                <a:latin typeface="Google Sans"/>
              </a:rPr>
              <a:t>Ube by date  </a:t>
            </a:r>
          </a:p>
          <a:p>
            <a:pPr marL="285750" lvl="1" indent="-285750">
              <a:buFontTx/>
              <a:buChar char="-"/>
            </a:pPr>
            <a:r>
              <a:rPr lang="en-GB" sz="1400" dirty="0">
                <a:latin typeface="Google Sans"/>
              </a:rPr>
              <a:t>Operator name </a:t>
            </a:r>
          </a:p>
          <a:p>
            <a:pPr marL="0" lvl="1" indent="0">
              <a:buNone/>
            </a:pPr>
            <a:endParaRPr lang="en-GB" sz="1400" b="1" dirty="0">
              <a:latin typeface="Google Sans"/>
            </a:endParaRPr>
          </a:p>
          <a:p>
            <a:pPr marL="0" lvl="1" indent="0">
              <a:buNone/>
            </a:pPr>
            <a:r>
              <a:rPr lang="en-GB" sz="1400" b="1" dirty="0">
                <a:latin typeface="Google Sans"/>
              </a:rPr>
              <a:t>Hand Hygiene:</a:t>
            </a:r>
            <a:r>
              <a:rPr lang="en-GB" sz="1400" dirty="0">
                <a:latin typeface="Google Sans"/>
              </a:rPr>
              <a:t> Wash your hands with warm, soapy water for at least 20 seconds before and after handling raw foods. </a:t>
            </a:r>
          </a:p>
          <a:p>
            <a:pPr marL="0" lvl="1" indent="0">
              <a:buNone/>
            </a:pPr>
            <a:endParaRPr lang="en-GB" sz="1400" dirty="0"/>
          </a:p>
          <a:p>
            <a:pPr marL="0" lvl="1" indent="0">
              <a:buFont typeface="Arial" panose="020B0604020202020204" pitchFamily="34" charset="0"/>
              <a:buNone/>
            </a:pP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E5B908-3898-02E9-5934-D36F5E104BF7}"/>
              </a:ext>
            </a:extLst>
          </p:cNvPr>
          <p:cNvSpPr txBox="1"/>
          <p:nvPr/>
        </p:nvSpPr>
        <p:spPr>
          <a:xfrm>
            <a:off x="1533880" y="240867"/>
            <a:ext cx="5096859" cy="400108"/>
          </a:xfrm>
          <a:prstGeom prst="rect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sz="2000" b="1" dirty="0">
                <a:latin typeface="Segoe UI" panose="020B0502040204020203" pitchFamily="34" charset="0"/>
              </a:rPr>
              <a:t>Food Safety attitude – food professionals </a:t>
            </a:r>
            <a:r>
              <a:rPr lang="en-GB" sz="2000" b="1" dirty="0">
                <a:solidFill>
                  <a:schemeClr val="tx1"/>
                </a:solidFill>
                <a:ea typeface="Droid Sans Fallback"/>
                <a:cs typeface="Poppins Medium" panose="020B0604020202020204" pitchFamily="34" charset="0"/>
              </a:rPr>
              <a:t> </a:t>
            </a:r>
            <a:endParaRPr lang="en-GB" sz="2000" b="1" dirty="0">
              <a:solidFill>
                <a:schemeClr val="tx1"/>
              </a:solidFill>
              <a:effectLst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44DA63-C156-5B68-7A13-46ED08CF0191}"/>
              </a:ext>
            </a:extLst>
          </p:cNvPr>
          <p:cNvSpPr/>
          <p:nvPr/>
        </p:nvSpPr>
        <p:spPr>
          <a:xfrm>
            <a:off x="7610120" y="18379"/>
            <a:ext cx="1531377" cy="923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Logo</a:t>
            </a:r>
            <a:endParaRPr lang="en-US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46229306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CDAB3-D8C1-45FB-9696-1E498351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1AC0CA50-4337-C73E-6C35-F1EADF9D0606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191589" y="747108"/>
            <a:ext cx="8534399" cy="6018815"/>
          </a:xfrm>
          <a:prstGeom prst="rect">
            <a:avLst/>
          </a:prstGeom>
        </p:spPr>
        <p:txBody>
          <a:bodyPr>
            <a:noAutofit/>
          </a:bodyPr>
          <a:lstStyle>
            <a:lvl1pPr marL="342900" marR="0" indent="-3429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83771" marR="0" indent="-326571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19200" marR="0" indent="-3048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373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945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517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1089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661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233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lvl="1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1400" b="1" dirty="0"/>
              <a:t>Corrective actions </a:t>
            </a:r>
            <a:r>
              <a:rPr lang="en-GB" sz="1400" dirty="0"/>
              <a:t>are steps to bring the process back under control, determine the cause of the </a:t>
            </a:r>
          </a:p>
          <a:p>
            <a:pPr marL="0" lvl="1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1400" dirty="0"/>
              <a:t>deviation, and prevent recurrence. </a:t>
            </a:r>
          </a:p>
          <a:p>
            <a:pPr marL="0" lvl="1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1400" b="1" dirty="0"/>
              <a:t>For example</a:t>
            </a:r>
            <a:r>
              <a:rPr lang="en-GB" sz="1400" dirty="0"/>
              <a:t>, if a cooking temperature falls below the critical limit in the Scrambled Egg production (&lt; 86 °C), c</a:t>
            </a:r>
            <a:r>
              <a:rPr lang="en-GB" sz="1400" b="0" i="0" dirty="0">
                <a:solidFill>
                  <a:srgbClr val="3D3D3D"/>
                </a:solidFill>
                <a:effectLst/>
              </a:rPr>
              <a:t>orrective actions MUST be taken immediately to bring the process back under control, also determine the cause of the deviation, and prevent recurrence. </a:t>
            </a:r>
          </a:p>
          <a:p>
            <a:pPr marL="0" lvl="1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GB" sz="1400" b="1" dirty="0"/>
          </a:p>
          <a:p>
            <a:pPr marL="0" lvl="1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1400" dirty="0"/>
              <a:t>The quality </a:t>
            </a:r>
            <a:r>
              <a:rPr lang="en-US" sz="1400" dirty="0"/>
              <a:t>tool </a:t>
            </a:r>
            <a:r>
              <a:rPr lang="en-US" sz="1400" b="1" dirty="0"/>
              <a:t>PDCA </a:t>
            </a:r>
            <a:r>
              <a:rPr lang="en-US" sz="1400" dirty="0"/>
              <a:t>can support the HACCP team in reviewing the process and reassessing the HACCP system to prevent recurrence of production deviations</a:t>
            </a:r>
            <a:r>
              <a:rPr lang="en-GB" sz="1400" dirty="0"/>
              <a:t>.</a:t>
            </a:r>
            <a:endParaRPr lang="en-GB" sz="1400" b="1" dirty="0"/>
          </a:p>
          <a:p>
            <a:pPr marL="0" lvl="1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1400" b="1" dirty="0"/>
              <a:t>Plan:</a:t>
            </a:r>
            <a:r>
              <a:rPr lang="en-GB" sz="1400" dirty="0"/>
              <a:t> Conduct your hazard analysis, identify Critical Control Points (CCPs), set critical limits, and establish monitoring procedures.</a:t>
            </a:r>
          </a:p>
          <a:p>
            <a:pPr marL="0" lvl="1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1400" b="1" dirty="0"/>
              <a:t>Do:</a:t>
            </a:r>
            <a:r>
              <a:rPr lang="en-GB" sz="1400" dirty="0"/>
              <a:t> Implement the HACCP plan, train staff, and execute your control measures and operational routines.</a:t>
            </a:r>
          </a:p>
          <a:p>
            <a:pPr marL="0" lvl="1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1400" b="1" dirty="0"/>
              <a:t>Check:</a:t>
            </a:r>
            <a:r>
              <a:rPr lang="en-GB" sz="1400" dirty="0"/>
              <a:t> Monitor the CCPs, review temperature logs, and conduct internal audits to ensure safety protocols are functioning as intended.</a:t>
            </a:r>
          </a:p>
          <a:p>
            <a:pPr marL="0" lvl="1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1400" b="1" dirty="0"/>
              <a:t>Act:</a:t>
            </a:r>
            <a:r>
              <a:rPr lang="en-GB" sz="1400" dirty="0"/>
              <a:t> Take corrective actions when deviations occur, standardise successful improvements, and update the HACCP plan to prevent future issues</a:t>
            </a:r>
          </a:p>
          <a:p>
            <a:pPr marL="0" lvl="1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15D6DA-F154-83F8-0E4C-D76BBE7DDC63}"/>
              </a:ext>
            </a:extLst>
          </p:cNvPr>
          <p:cNvSpPr txBox="1"/>
          <p:nvPr/>
        </p:nvSpPr>
        <p:spPr>
          <a:xfrm>
            <a:off x="1533880" y="240867"/>
            <a:ext cx="5096859" cy="400108"/>
          </a:xfrm>
          <a:prstGeom prst="rect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GB" sz="2000" b="1" dirty="0">
                <a:latin typeface="Segoe UI" panose="020B0502040204020203" pitchFamily="34" charset="0"/>
              </a:rPr>
              <a:t>Corrective Actions / Action Plan  </a:t>
            </a:r>
            <a:endParaRPr lang="en-GB" sz="2000" b="1" dirty="0">
              <a:solidFill>
                <a:schemeClr val="tx1"/>
              </a:solidFill>
              <a:effectLst/>
              <a:ea typeface="Droid Sans Fallbac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44682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296F2-65E6-EE8B-D721-2AE8A9977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EE9FD18-DE03-BC17-D55C-08703B316D8C}"/>
              </a:ext>
            </a:extLst>
          </p:cNvPr>
          <p:cNvSpPr/>
          <p:nvPr/>
        </p:nvSpPr>
        <p:spPr>
          <a:xfrm>
            <a:off x="6798656" y="5530812"/>
            <a:ext cx="3328416" cy="374944"/>
          </a:xfrm>
          <a:prstGeom prst="rect">
            <a:avLst/>
          </a:prstGeom>
          <a:solidFill>
            <a:srgbClr val="72CAEE"/>
          </a:solidFill>
          <a:ln w="25400" cap="flat">
            <a:solidFill>
              <a:srgbClr val="72CAEE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D779BF-0E70-4946-90C9-066029EDC30F}"/>
              </a:ext>
            </a:extLst>
          </p:cNvPr>
          <p:cNvSpPr txBox="1"/>
          <p:nvPr/>
        </p:nvSpPr>
        <p:spPr>
          <a:xfrm>
            <a:off x="1533880" y="240867"/>
            <a:ext cx="5096859" cy="400108"/>
          </a:xfrm>
          <a:prstGeom prst="rect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sz="2000" b="1" dirty="0">
                <a:latin typeface="Segoe UI" panose="020B0502040204020203" pitchFamily="34" charset="0"/>
              </a:rPr>
              <a:t>HACCP TEAM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98B80F-A814-5774-5963-F3DB628ACFC1}"/>
              </a:ext>
            </a:extLst>
          </p:cNvPr>
          <p:cNvSpPr txBox="1"/>
          <p:nvPr/>
        </p:nvSpPr>
        <p:spPr>
          <a:xfrm>
            <a:off x="121810" y="1379139"/>
            <a:ext cx="8616295" cy="26395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1600" dirty="0"/>
              <a:t>A HACCP team is a multidisciplinary group responsible for </a:t>
            </a:r>
            <a:r>
              <a:rPr lang="en-GB" sz="1600" b="1" dirty="0"/>
              <a:t>developing</a:t>
            </a:r>
            <a:r>
              <a:rPr lang="en-GB" sz="1600" dirty="0"/>
              <a:t>, </a:t>
            </a:r>
            <a:r>
              <a:rPr lang="en-GB" sz="1600" b="1" dirty="0"/>
              <a:t>implementing</a:t>
            </a:r>
            <a:r>
              <a:rPr lang="en-GB" sz="1600" dirty="0"/>
              <a:t>, and </a:t>
            </a:r>
            <a:r>
              <a:rPr lang="en-GB" sz="1600" b="1" dirty="0"/>
              <a:t>maintaining </a:t>
            </a:r>
            <a:r>
              <a:rPr lang="en-GB" sz="1600" dirty="0"/>
              <a:t>a food safety management system. </a:t>
            </a:r>
          </a:p>
          <a:p>
            <a:pPr algn="just">
              <a:lnSpc>
                <a:spcPct val="150000"/>
              </a:lnSpc>
            </a:pPr>
            <a:r>
              <a:rPr lang="en-GB" sz="1600" dirty="0"/>
              <a:t>The HACCP team is responsible </a:t>
            </a:r>
            <a:r>
              <a:rPr lang="en-US" sz="1600" dirty="0"/>
              <a:t>for identifying hazards, establishing control measures, and ensuring</a:t>
            </a:r>
            <a:r>
              <a:rPr lang="en-GB" sz="1600" dirty="0"/>
              <a:t> compliance with food safety regulations to keep food safe.</a:t>
            </a:r>
          </a:p>
          <a:p>
            <a:pPr algn="just">
              <a:lnSpc>
                <a:spcPct val="150000"/>
              </a:lnSpc>
            </a:pPr>
            <a:endParaRPr lang="en-GB" sz="1600" dirty="0"/>
          </a:p>
          <a:p>
            <a:pPr algn="just">
              <a:lnSpc>
                <a:spcPct val="150000"/>
              </a:lnSpc>
            </a:pPr>
            <a:endParaRPr lang="en-GB" sz="1600" dirty="0"/>
          </a:p>
          <a:p>
            <a:pPr algn="just">
              <a:lnSpc>
                <a:spcPct val="150000"/>
              </a:lnSpc>
            </a:pPr>
            <a:endParaRPr lang="en-GB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D9EAFE-3AFA-6700-7196-5375BAE54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27" y="4539135"/>
            <a:ext cx="2077998" cy="207799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hought Bubble: Cloud 3">
            <a:extLst>
              <a:ext uri="{FF2B5EF4-FFF2-40B4-BE49-F238E27FC236}">
                <a16:creationId xmlns:a16="http://schemas.microsoft.com/office/drawing/2014/main" id="{721A7EB8-C582-0E08-BB2A-E17C0082B150}"/>
              </a:ext>
            </a:extLst>
          </p:cNvPr>
          <p:cNvSpPr/>
          <p:nvPr/>
        </p:nvSpPr>
        <p:spPr>
          <a:xfrm>
            <a:off x="3761704" y="3203880"/>
            <a:ext cx="2869035" cy="2670509"/>
          </a:xfrm>
          <a:prstGeom prst="cloudCallout">
            <a:avLst>
              <a:gd name="adj1" fmla="val -105110"/>
              <a:gd name="adj2" fmla="val 20473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Can you name 3 members of your company’s HACCP team?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2131188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A8631-C930-B757-1E49-41B355083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EBB51E6-3210-C345-1E28-3C846267BD93}"/>
              </a:ext>
            </a:extLst>
          </p:cNvPr>
          <p:cNvSpPr txBox="1"/>
          <p:nvPr/>
        </p:nvSpPr>
        <p:spPr>
          <a:xfrm>
            <a:off x="1533880" y="240867"/>
            <a:ext cx="5096859" cy="400108"/>
          </a:xfrm>
          <a:prstGeom prst="rect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sz="2000" b="1" dirty="0">
                <a:latin typeface="Segoe UI" panose="020B0502040204020203" pitchFamily="34" charset="0"/>
              </a:rPr>
              <a:t>Responsibilities</a:t>
            </a:r>
          </a:p>
        </p:txBody>
      </p:sp>
      <p:sp>
        <p:nvSpPr>
          <p:cNvPr id="13" name="Pentagon 12">
            <a:extLst>
              <a:ext uri="{FF2B5EF4-FFF2-40B4-BE49-F238E27FC236}">
                <a16:creationId xmlns:a16="http://schemas.microsoft.com/office/drawing/2014/main" id="{156D16CB-A8DD-5E98-AEAF-B7EA71D72343}"/>
              </a:ext>
            </a:extLst>
          </p:cNvPr>
          <p:cNvSpPr/>
          <p:nvPr/>
        </p:nvSpPr>
        <p:spPr>
          <a:xfrm rot="5400000">
            <a:off x="-269259" y="205004"/>
            <a:ext cx="1363863" cy="664490"/>
          </a:xfrm>
          <a:prstGeom prst="homePlate">
            <a:avLst>
              <a:gd name="adj" fmla="val 51220"/>
            </a:avLst>
          </a:prstGeom>
          <a:solidFill>
            <a:srgbClr val="72CAEE"/>
          </a:solidFill>
          <a:ln w="25400" cap="flat">
            <a:solidFill>
              <a:srgbClr val="72CAEE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90081-E02E-25CD-7FD1-C62226B83A1E}"/>
              </a:ext>
            </a:extLst>
          </p:cNvPr>
          <p:cNvSpPr txBox="1"/>
          <p:nvPr/>
        </p:nvSpPr>
        <p:spPr>
          <a:xfrm>
            <a:off x="823296" y="984068"/>
            <a:ext cx="8065569" cy="51655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 hangingPunct="1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Immediate Response Actions</a:t>
            </a:r>
          </a:p>
          <a:p>
            <a:pPr lvl="1" indent="0" hangingPunct="1"/>
            <a:r>
              <a:rPr lang="en-US" dirty="0"/>
              <a:t>Put the product ON-HOLD </a:t>
            </a:r>
            <a:r>
              <a:rPr lang="en-US" dirty="0">
                <a:solidFill>
                  <a:schemeClr val="tx1"/>
                </a:solidFill>
              </a:rPr>
              <a:t>if the product </a:t>
            </a:r>
            <a:r>
              <a:rPr lang="en-US" dirty="0"/>
              <a:t>is out of spec. The quality team will investigate, create an action plan and decide if the product will be released for sale. </a:t>
            </a:r>
          </a:p>
          <a:p>
            <a:pPr lvl="1" indent="0" hangingPunct="1"/>
            <a:endParaRPr lang="en-US" dirty="0"/>
          </a:p>
          <a:p>
            <a:pPr marL="0" lvl="1" indent="0" hangingPunct="1">
              <a:buFont typeface="Arial" panose="020B0604020202020204" pitchFamily="34" charset="0"/>
              <a:buNone/>
            </a:pPr>
            <a:r>
              <a:rPr lang="en-US" b="1" dirty="0"/>
              <a:t>Clear Communication</a:t>
            </a:r>
          </a:p>
          <a:p>
            <a:pPr marL="0" lvl="1" indent="0" hangingPunct="1">
              <a:buFont typeface="Arial" panose="020B0604020202020204" pitchFamily="34" charset="0"/>
              <a:buNone/>
            </a:pPr>
            <a:r>
              <a:rPr lang="en-US" dirty="0"/>
              <a:t>Communicate with production and technical staff to ensure actions and effective risk control. Out-of-specification circumstances </a:t>
            </a:r>
            <a:r>
              <a:rPr lang="en-US" b="1" dirty="0"/>
              <a:t>MUST be reported immediately </a:t>
            </a:r>
            <a:r>
              <a:rPr lang="en-US" dirty="0"/>
              <a:t>to the technical/quality team. </a:t>
            </a:r>
          </a:p>
          <a:p>
            <a:pPr marL="0" indent="0" hangingPunct="1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Employee Responsibilities</a:t>
            </a:r>
          </a:p>
          <a:p>
            <a:pPr marL="0" lvl="1" indent="0" hangingPunct="1">
              <a:buFont typeface="Arial" panose="020B0604020202020204" pitchFamily="34" charset="0"/>
              <a:buNone/>
            </a:pPr>
            <a:r>
              <a:rPr lang="en-US" dirty="0"/>
              <a:t>Employees must follow the HACCP steps, the hygiene rules, use equipment properly, clean as trained, and report issues to prevent contamination.</a:t>
            </a:r>
          </a:p>
          <a:p>
            <a:pPr marL="0" indent="0" hangingPunct="1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Shared Food Safety Accountability</a:t>
            </a:r>
          </a:p>
          <a:p>
            <a:pPr marL="0" lvl="1" indent="0" hangingPunct="1">
              <a:buFont typeface="Arial" panose="020B0604020202020204" pitchFamily="34" charset="0"/>
              <a:buNone/>
            </a:pPr>
            <a:r>
              <a:rPr lang="en-US" dirty="0"/>
              <a:t>Food safety depends on consistent, responsible behaviour from all staff, and the company, not just the quality team.</a:t>
            </a:r>
          </a:p>
          <a:p>
            <a:pPr marL="0" lvl="1" indent="0" hangingPunct="1">
              <a:buFont typeface="Arial" panose="020B0604020202020204" pitchFamily="34" charset="0"/>
              <a:buNone/>
            </a:pPr>
            <a:endParaRPr lang="en-US" dirty="0"/>
          </a:p>
          <a:p>
            <a:pPr marL="0" lvl="1" indent="0" hangingPunct="1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FF0000"/>
                </a:solidFill>
              </a:rPr>
              <a:t>Everyone in the business can be held legally responsible for a foodborne illness.</a:t>
            </a:r>
          </a:p>
        </p:txBody>
      </p:sp>
    </p:spTree>
    <p:extLst>
      <p:ext uri="{BB962C8B-B14F-4D97-AF65-F5344CB8AC3E}">
        <p14:creationId xmlns:p14="http://schemas.microsoft.com/office/powerpoint/2010/main" val="751804272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5C05D-2696-2285-618D-4AC0AE542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814B1C-8F0E-A87E-766E-DEA5E01C1154}"/>
              </a:ext>
            </a:extLst>
          </p:cNvPr>
          <p:cNvSpPr/>
          <p:nvPr/>
        </p:nvSpPr>
        <p:spPr>
          <a:xfrm>
            <a:off x="294795" y="281311"/>
            <a:ext cx="482517" cy="4043801"/>
          </a:xfrm>
          <a:prstGeom prst="rect">
            <a:avLst/>
          </a:prstGeom>
          <a:solidFill>
            <a:srgbClr val="72CAEE"/>
          </a:solidFill>
          <a:ln w="25400" cap="flat">
            <a:solidFill>
              <a:srgbClr val="72CAEE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E04E6C3-67DB-2906-8C57-54F1BCC30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000" y="5185550"/>
            <a:ext cx="8229600" cy="1143001"/>
          </a:xfrm>
        </p:spPr>
        <p:txBody>
          <a:bodyPr>
            <a:normAutofit/>
          </a:bodyPr>
          <a:lstStyle/>
          <a:p>
            <a:r>
              <a:rPr lang="en-GB" sz="2800" b="1" dirty="0"/>
              <a:t>Let’s keep the product safe and our strong reputation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3095EE-6365-0DE5-4F02-06E948AF2A76}"/>
              </a:ext>
            </a:extLst>
          </p:cNvPr>
          <p:cNvSpPr/>
          <p:nvPr/>
        </p:nvSpPr>
        <p:spPr>
          <a:xfrm>
            <a:off x="8675730" y="3163650"/>
            <a:ext cx="482517" cy="4043801"/>
          </a:xfrm>
          <a:prstGeom prst="rect">
            <a:avLst/>
          </a:prstGeom>
          <a:solidFill>
            <a:srgbClr val="72CAEE"/>
          </a:solidFill>
          <a:ln w="25400" cap="flat">
            <a:solidFill>
              <a:srgbClr val="72CAEE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37F241-00B7-9E7D-C4E7-CCAE6A13D519}"/>
              </a:ext>
            </a:extLst>
          </p:cNvPr>
          <p:cNvSpPr/>
          <p:nvPr/>
        </p:nvSpPr>
        <p:spPr>
          <a:xfrm>
            <a:off x="2764221" y="2240322"/>
            <a:ext cx="2246711" cy="923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Logo</a:t>
            </a:r>
            <a:endParaRPr lang="en-US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8825797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12F17-FC5A-034E-9594-5F4AEE348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2698" y="1678577"/>
            <a:ext cx="8229600" cy="2185851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GB" sz="1600" b="1" dirty="0">
                <a:solidFill>
                  <a:schemeClr val="tx1"/>
                </a:solidFill>
              </a:rPr>
              <a:t>Food Safety Agency: </a:t>
            </a:r>
            <a:r>
              <a:rPr lang="en-GB" sz="1600" dirty="0">
                <a:solidFill>
                  <a:srgbClr val="0000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Hazard Analysis and Critical Control Point (HACCP) | Food Standards Agency</a:t>
            </a:r>
            <a:endParaRPr lang="en-GB" sz="1600" dirty="0">
              <a:solidFill>
                <a:srgbClr val="0000FF"/>
              </a:solidFill>
            </a:endParaRPr>
          </a:p>
          <a:p>
            <a:pPr>
              <a:buFontTx/>
              <a:buChar char="-"/>
            </a:pPr>
            <a:r>
              <a:rPr lang="en-GB" sz="1600" b="1" dirty="0">
                <a:solidFill>
                  <a:schemeClr val="tx1"/>
                </a:solidFill>
              </a:rPr>
              <a:t>CIEH: </a:t>
            </a:r>
            <a:r>
              <a:rPr lang="en-GB" sz="1600" dirty="0">
                <a:hlinkClick r:id="rId3"/>
              </a:rPr>
              <a:t>HACCP training | CIEH Training Programmes</a:t>
            </a:r>
            <a:endParaRPr lang="en-GB" sz="1600" dirty="0"/>
          </a:p>
          <a:p>
            <a:pPr>
              <a:buFontTx/>
              <a:buChar char="-"/>
            </a:pPr>
            <a:r>
              <a:rPr lang="en-GB" sz="1600" b="1" dirty="0"/>
              <a:t>UK Government:</a:t>
            </a:r>
            <a:r>
              <a:rPr lang="en-GB" sz="1600" dirty="0">
                <a:hlinkClick r:id="rId4"/>
              </a:rPr>
              <a:t> Make an HACCP food plan - GOV.UK</a:t>
            </a:r>
          </a:p>
          <a:p>
            <a:pPr>
              <a:buFontTx/>
              <a:buChar char="-"/>
            </a:pPr>
            <a:r>
              <a:rPr lang="en-GB" sz="1600" b="1" dirty="0">
                <a:solidFill>
                  <a:schemeClr val="tx1"/>
                </a:solidFill>
              </a:rPr>
              <a:t>Codex Alimentarius: </a:t>
            </a:r>
            <a:r>
              <a:rPr lang="en-GB" sz="1600" dirty="0">
                <a:hlinkClick r:id="rId5"/>
              </a:rPr>
              <a:t>Home | CODEXALIMENTARIUS FAO-WHO</a:t>
            </a:r>
            <a:endParaRPr lang="en-GB" sz="1600" dirty="0">
              <a:hlinkClick r:id="rId4"/>
            </a:endParaRPr>
          </a:p>
          <a:p>
            <a:pPr>
              <a:buFontTx/>
              <a:buChar char="-"/>
            </a:pPr>
            <a:endParaRPr lang="en-GB" sz="1600" b="1" dirty="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A120F5-27CE-2165-ADCF-81DD9C74B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629" y="281411"/>
            <a:ext cx="5151990" cy="1032635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chemeClr val="tx1"/>
                </a:solidFill>
              </a:rPr>
              <a:t>Reference </a:t>
            </a:r>
            <a:endParaRPr lang="en-GB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368639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4596F-B671-32F1-9BCA-C4244F686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32" y="121713"/>
            <a:ext cx="4624250" cy="457199"/>
          </a:xfrm>
          <a:solidFill>
            <a:srgbClr val="FFC000"/>
          </a:solidFill>
        </p:spPr>
        <p:txBody>
          <a:bodyPr>
            <a:no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HACCP L2 Training – Assessment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A4E2D72-C96E-A5FB-3321-D4587764CC64}"/>
              </a:ext>
            </a:extLst>
          </p:cNvPr>
          <p:cNvSpPr txBox="1">
            <a:spLocks/>
          </p:cNvSpPr>
          <p:nvPr/>
        </p:nvSpPr>
        <p:spPr>
          <a:xfrm>
            <a:off x="104178" y="5792495"/>
            <a:ext cx="4079965" cy="943792"/>
          </a:xfrm>
          <a:prstGeom prst="rect">
            <a:avLst/>
          </a:prstGeom>
          <a:ln w="12700">
            <a:solidFill>
              <a:schemeClr val="accent1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marL="342900" marR="0" indent="-3429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83771" marR="0" indent="-326571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19200" marR="0" indent="-3048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373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945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517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1089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661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233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indent="0" hangingPunct="1">
              <a:buFont typeface="Arial"/>
              <a:buNone/>
            </a:pPr>
            <a:r>
              <a:rPr lang="en-GB" sz="1400" b="1" dirty="0"/>
              <a:t>Learner Name:</a:t>
            </a:r>
          </a:p>
          <a:p>
            <a:pPr marL="0" indent="0" hangingPunct="1">
              <a:buFont typeface="Arial"/>
              <a:buNone/>
            </a:pPr>
            <a:r>
              <a:rPr lang="en-GB" sz="1400" b="1" dirty="0"/>
              <a:t>Title:</a:t>
            </a:r>
          </a:p>
          <a:p>
            <a:pPr marL="0" indent="0" hangingPunct="1">
              <a:buFont typeface="Arial"/>
              <a:buNone/>
            </a:pPr>
            <a:r>
              <a:rPr lang="en-GB" sz="1400" b="1" dirty="0"/>
              <a:t>Date:                     Signature_____________</a:t>
            </a:r>
            <a:endParaRPr lang="en-GB" sz="1400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2668B16-3F49-52A8-3E80-FAAAA66036E0}"/>
              </a:ext>
            </a:extLst>
          </p:cNvPr>
          <p:cNvSpPr txBox="1">
            <a:spLocks/>
          </p:cNvSpPr>
          <p:nvPr/>
        </p:nvSpPr>
        <p:spPr>
          <a:xfrm>
            <a:off x="5312229" y="237674"/>
            <a:ext cx="2729484" cy="475845"/>
          </a:xfrm>
          <a:prstGeom prst="rect">
            <a:avLst/>
          </a:prstGeom>
          <a:ln w="12700">
            <a:solidFill>
              <a:schemeClr val="accent1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marL="342900" marR="0" indent="-3429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83771" marR="0" indent="-326571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19200" marR="0" indent="-3048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373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945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517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1089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661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233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indent="0" hangingPunct="1">
              <a:buFont typeface="Arial"/>
              <a:buNone/>
            </a:pPr>
            <a:r>
              <a:rPr lang="en-GB" sz="1100" b="1" dirty="0"/>
              <a:t>Knowledge before – from 0 – 5:    </a:t>
            </a:r>
          </a:p>
          <a:p>
            <a:pPr marL="0" indent="0" hangingPunct="1">
              <a:buFont typeface="Arial"/>
              <a:buNone/>
            </a:pPr>
            <a:r>
              <a:rPr lang="en-GB" sz="1100" b="1" dirty="0"/>
              <a:t>Knowledge after training – from 0 – 5:</a:t>
            </a:r>
            <a:endParaRPr lang="en-GB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E43A7A-CE80-C467-BF96-61D5F7381D03}"/>
              </a:ext>
            </a:extLst>
          </p:cNvPr>
          <p:cNvSpPr txBox="1"/>
          <p:nvPr/>
        </p:nvSpPr>
        <p:spPr>
          <a:xfrm>
            <a:off x="21119" y="717212"/>
            <a:ext cx="4262845" cy="47166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fontAlgn="t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1. What is the main purpose of HACCP?</a:t>
            </a:r>
          </a:p>
          <a:p>
            <a:pPr fontAlgn="t"/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a) To inspect finished food products only</a:t>
            </a:r>
            <a:b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b) To prevent, reduce, or eliminate food safety hazards</a:t>
            </a:r>
            <a:b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c) To increase production speed</a:t>
            </a:r>
          </a:p>
          <a:p>
            <a:pPr marL="228600" indent="-228600" fontAlgn="t">
              <a:lnSpc>
                <a:spcPts val="1500"/>
              </a:lnSpc>
              <a:buAutoNum type="arabicPeriod"/>
            </a:pPr>
            <a:endParaRPr lang="en-US" sz="12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2. Which of the following is NOT a type of food hazard?</a:t>
            </a:r>
          </a:p>
          <a:p>
            <a:pPr fontAlgn="t"/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a) Physical</a:t>
            </a:r>
            <a:b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b) Financial</a:t>
            </a:r>
            <a:b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c) Microbiological</a:t>
            </a:r>
          </a:p>
          <a:p>
            <a:pPr fontAlgn="t"/>
            <a:endParaRPr lang="en-GB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3. What is the required pasteurisation condition for liquid egg?</a:t>
            </a:r>
          </a:p>
          <a:p>
            <a:pPr marL="228600" indent="-228600" fontAlgn="t">
              <a:buAutoNum type="alphaLcParenR"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60°C for 10 minutes</a:t>
            </a:r>
          </a:p>
          <a:p>
            <a:pPr marL="228600" indent="-228600" fontAlgn="t">
              <a:buAutoNum type="alphaLcParenR"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&gt;72°C for 2.5 minutes</a:t>
            </a:r>
          </a:p>
          <a:p>
            <a:pPr marL="228600" indent="-228600" fontAlgn="t">
              <a:buAutoNum type="alphaLcParenR"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100°C for 1 minute</a:t>
            </a:r>
          </a:p>
          <a:p>
            <a:pPr fontAlgn="t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4. What is the requirement for Scrambled Egg CCP 2?</a:t>
            </a:r>
          </a:p>
          <a:p>
            <a:pPr marL="228600" indent="-228600" fontAlgn="t">
              <a:buAutoNum type="alphaLcParenR"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86°C for 10 minutes</a:t>
            </a:r>
          </a:p>
          <a:p>
            <a:pPr marL="228600" indent="-228600" fontAlgn="t">
              <a:buAutoNum type="alphaLcParenR"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&gt;88°C for 20 minutes</a:t>
            </a:r>
          </a:p>
          <a:p>
            <a:pPr marL="228600" indent="-228600" fontAlgn="t">
              <a:buAutoNum type="alphaLcParenR"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100°C for 1 minute</a:t>
            </a:r>
          </a:p>
          <a:p>
            <a:pPr marL="228600" indent="-228600" fontAlgn="t">
              <a:buAutoNum type="alphaLcParenR"/>
            </a:pPr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5. What is the requirement for Egg Muffin CCP 3 and </a:t>
            </a:r>
          </a:p>
          <a:p>
            <a:pPr marL="228600" indent="-228600" fontAlgn="t">
              <a:buAutoNum type="alphaLcParenR"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86°C for 10 minutes</a:t>
            </a:r>
          </a:p>
          <a:p>
            <a:pPr marL="228600" indent="-228600" fontAlgn="t">
              <a:buAutoNum type="alphaLcParenR"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&gt;86°C for 20 minutes</a:t>
            </a:r>
          </a:p>
          <a:p>
            <a:pPr marL="228600" indent="-228600" fontAlgn="t">
              <a:buAutoNum type="alphaLcParenR"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100°C for 1 minute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8A19A6-2DE8-19AD-5A5E-7AFF3F81C7CB}"/>
              </a:ext>
            </a:extLst>
          </p:cNvPr>
          <p:cNvSpPr txBox="1"/>
          <p:nvPr/>
        </p:nvSpPr>
        <p:spPr>
          <a:xfrm>
            <a:off x="4436035" y="851819"/>
            <a:ext cx="4572000" cy="4944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GB" sz="12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6. Which action helps prevent cross-contamination?</a:t>
            </a:r>
            <a:br>
              <a:rPr lang="en-GB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GB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A) Using the same tools for all foods</a:t>
            </a:r>
            <a:br>
              <a:rPr lang="en-GB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GB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B) Colour-coding tools and cleaning properly</a:t>
            </a:r>
            <a:br>
              <a:rPr lang="en-GB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GB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C) Ignoring cleaning schedules</a:t>
            </a: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7. Which of the following is a good personal hygiene practice?</a:t>
            </a:r>
            <a:b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A) Not washing hands regularly</a:t>
            </a:r>
            <a:b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B) Wearing jewellery during production</a:t>
            </a:r>
            <a:b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C) Washing hands and changing gloves before starting the next recipe</a:t>
            </a: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8. What should you do if allergen contamination is suspected?</a:t>
            </a:r>
            <a:b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A) Ignore it</a:t>
            </a:r>
            <a:b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B) Put the product on hold and report it to the manager/technical staff</a:t>
            </a:r>
            <a:b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C) Sell the product quickly </a:t>
            </a: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9. Who is responsible for food safety and allergen control?</a:t>
            </a:r>
            <a:b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A) Only the manager</a:t>
            </a:r>
            <a:b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B) Only the quality team            C) Everyone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GB" sz="12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10. </a:t>
            </a:r>
            <a:r>
              <a:rPr lang="en-GB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Write in the back of this page: which allergen we have on site and what </a:t>
            </a:r>
            <a:r>
              <a:rPr lang="en-GB" sz="12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you</a:t>
            </a:r>
            <a:r>
              <a:rPr lang="en-GB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should do to avoid cross-contamination.</a:t>
            </a:r>
          </a:p>
        </p:txBody>
      </p:sp>
    </p:spTree>
    <p:extLst>
      <p:ext uri="{BB962C8B-B14F-4D97-AF65-F5344CB8AC3E}">
        <p14:creationId xmlns:p14="http://schemas.microsoft.com/office/powerpoint/2010/main" val="184099139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6316</TotalTime>
  <Words>3098</Words>
  <Application>Microsoft Macintosh PowerPoint</Application>
  <PresentationFormat>On-screen Show (4:3)</PresentationFormat>
  <Paragraphs>347</Paragraphs>
  <Slides>29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0" baseType="lpstr">
      <vt:lpstr>Aptos</vt:lpstr>
      <vt:lpstr>Arial</vt:lpstr>
      <vt:lpstr>Calibri</vt:lpstr>
      <vt:lpstr>Droid Sans Fallback</vt:lpstr>
      <vt:lpstr>Gilroy</vt:lpstr>
      <vt:lpstr>Google Sans</vt:lpstr>
      <vt:lpstr>Segoe UI</vt:lpstr>
      <vt:lpstr>Source Sans 3</vt:lpstr>
      <vt:lpstr>Times New Roman</vt:lpstr>
      <vt:lpstr>Wingdings</vt:lpstr>
      <vt:lpstr>Office Theme</vt:lpstr>
      <vt:lpstr>HACCP LEVEL 2 Training for  Food Professionals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Nut-free site.  We do not bring food that contains nuts when we come to work.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keep the product safe and our strong reputation</vt:lpstr>
      <vt:lpstr>Reference </vt:lpstr>
      <vt:lpstr>HACCP L2 Training – Assessment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Valeria Marinho</dc:creator>
  <cp:lastModifiedBy>Valeria Marinhho</cp:lastModifiedBy>
  <cp:revision>77</cp:revision>
  <cp:lastPrinted>2026-05-08T11:05:01Z</cp:lastPrinted>
  <dcterms:modified xsi:type="dcterms:W3CDTF">2026-09-07T18:25:54Z</dcterms:modified>
</cp:coreProperties>
</file>